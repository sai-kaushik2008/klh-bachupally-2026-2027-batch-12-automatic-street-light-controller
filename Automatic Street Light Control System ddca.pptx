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5556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73851508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54274666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77380791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88AF9F-2338-4040-A485-373B8EC8151E}" type="datetime1">
              <a:rPr lang="en-US" smtClean="0"/>
              <a:pPr/>
              <a:t>9/11/2026</a:t>
            </a:fld>
            <a:endParaRPr lang="en-US" dirty="0"/>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2142792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88AF9F-2338-4040-A485-373B8EC8151E}" type="datetime1">
              <a:rPr lang="en-US" smtClean="0"/>
              <a:pPr/>
              <a:t>9/11/2026</a:t>
            </a:fld>
            <a:endParaRPr lang="en-US" dirty="0"/>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7459805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9AFCF02-D35E-46A4-B7A1-1A2B81F8D932}" type="datetime1">
              <a:rPr lang="en-US" smtClean="0"/>
              <a:pPr/>
              <a:t>9/11/2026</a:t>
            </a:fld>
            <a:endParaRPr lang="en-US"/>
          </a:p>
        </p:txBody>
      </p:sp>
      <p:sp>
        <p:nvSpPr>
          <p:cNvPr id="5" name="Footer Placeholder 3"/>
          <p:cNvSpPr>
            <a:spLocks noGrp="1"/>
          </p:cNvSpPr>
          <p:nvPr>
            <p:ph type="ftr" sz="quarter" idx="11"/>
          </p:nvPr>
        </p:nvSpPr>
        <p:spPr/>
        <p:txBody>
          <a:bodyPr/>
          <a:lstStyle/>
          <a:p>
            <a:r>
              <a:rPr lang="en-US"/>
              <a:t>Sample Footer Text</a:t>
            </a:r>
          </a:p>
        </p:txBody>
      </p:sp>
      <p:sp>
        <p:nvSpPr>
          <p:cNvPr id="6" name="Slide Number Placeholder 4"/>
          <p:cNvSpPr>
            <a:spLocks noGrp="1"/>
          </p:cNvSpPr>
          <p:nvPr>
            <p:ph type="sldNum" sz="quarter" idx="12"/>
          </p:nvPr>
        </p:nvSpPr>
        <p:spPr/>
        <p:txBody>
          <a:bodyPr/>
          <a:lstStyle/>
          <a:p>
            <a:fld id="{8E274F5D-21DC-40EF-8DBA-AB9BB119E939}" type="slidenum">
              <a:rPr lang="en-US" smtClean="0"/>
              <a:pPr/>
              <a:t>‹#›</a:t>
            </a:fld>
            <a:endParaRPr lang="en-US"/>
          </a:p>
        </p:txBody>
      </p:sp>
    </p:spTree>
    <p:extLst>
      <p:ext uri="{BB962C8B-B14F-4D97-AF65-F5344CB8AC3E}">
        <p14:creationId xmlns:p14="http://schemas.microsoft.com/office/powerpoint/2010/main" val="45024227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2"/>
          <p:cNvSpPr>
            <a:spLocks noGrp="1"/>
          </p:cNvSpPr>
          <p:nvPr>
            <p:ph type="ftr" sz="quarter" idx="11"/>
          </p:nvPr>
        </p:nvSpPr>
        <p:spPr/>
        <p:txBody>
          <a:bodyPr/>
          <a:lstStyle/>
          <a:p>
            <a:r>
              <a:rPr lang="en-US"/>
              <a:t>Sample Footer Text</a:t>
            </a:r>
          </a:p>
        </p:txBody>
      </p:sp>
      <p:sp>
        <p:nvSpPr>
          <p:cNvPr id="6" name="Slide Number Placeholder 3"/>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19267084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5"/>
          <p:cNvSpPr>
            <a:spLocks noGrp="1"/>
          </p:cNvSpPr>
          <p:nvPr>
            <p:ph type="ftr" sz="quarter" idx="11"/>
          </p:nvPr>
        </p:nvSpPr>
        <p:spPr/>
        <p:txBody>
          <a:bodyPr/>
          <a:lstStyle/>
          <a:p>
            <a:r>
              <a:rPr lang="en-US"/>
              <a:t>Sample Footer Text</a:t>
            </a:r>
          </a:p>
        </p:txBody>
      </p:sp>
      <p:sp>
        <p:nvSpPr>
          <p:cNvPr id="6" name="Slide Number Placeholder 6"/>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0121208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88AF9F-2338-4040-A485-373B8EC8151E}" type="datetime1">
              <a:rPr lang="en-US" smtClean="0"/>
              <a:pPr/>
              <a:t>9/11/2026</a:t>
            </a:fld>
            <a:endParaRPr lang="en-US" dirty="0"/>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37678254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88AF9F-2338-4040-A485-373B8EC8151E}" type="datetime1">
              <a:rPr lang="en-US" smtClean="0"/>
              <a:pPr/>
              <a:t>9/11/2026</a:t>
            </a:fld>
            <a:endParaRPr lang="en-US" dirty="0"/>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777045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5271682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347253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75023710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02250038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86507123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47520817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8AF9F-2338-4040-A485-373B8EC8151E}" type="datetime1">
              <a:rPr lang="en-US" smtClean="0"/>
              <a:pPr/>
              <a:t>9/11/2026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0264861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824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288AF9F-2338-4040-A485-373B8EC8151E}" type="datetime1">
              <a:rPr lang="en-US" smtClean="0"/>
              <a:pPr/>
              <a:t>9/11/2026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Sample Footer Text</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205806626"/>
      </p:ext>
    </p:extLst>
  </p:cSld>
  <p:clrMap bg1="dk1" tx1="lt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5" Type="http://schemas.openxmlformats.org/officeDocument/2006/relationships/image" Target="../media/image2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B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F4B942">
              <a:alpha val="10000"/>
            </a:srgbClr>
          </a:solidFill>
          <a:ln/>
        </p:spPr>
      </p:sp>
      <p:sp>
        <p:nvSpPr>
          <p:cNvPr id="3" name="Shape 1"/>
          <p:cNvSpPr/>
          <p:nvPr/>
        </p:nvSpPr>
        <p:spPr>
          <a:xfrm>
            <a:off x="9418320" y="-822960"/>
            <a:ext cx="3840480" cy="3840480"/>
          </a:xfrm>
          <a:prstGeom prst="ellipse">
            <a:avLst/>
          </a:prstGeom>
          <a:solidFill>
            <a:srgbClr val="F4B942">
              <a:alpha val="15000"/>
            </a:srgbClr>
          </a:solidFill>
          <a:ln/>
        </p:spPr>
      </p:sp>
      <p:sp>
        <p:nvSpPr>
          <p:cNvPr id="4" name="Shape 2"/>
          <p:cNvSpPr/>
          <p:nvPr/>
        </p:nvSpPr>
        <p:spPr>
          <a:xfrm>
            <a:off x="10195560" y="-45720"/>
            <a:ext cx="2286000" cy="2286000"/>
          </a:xfrm>
          <a:prstGeom prst="ellipse">
            <a:avLst/>
          </a:prstGeom>
          <a:solidFill>
            <a:srgbClr val="F4B942">
              <a:alpha val="22000"/>
            </a:srgbClr>
          </a:solidFill>
          <a:ln/>
        </p:spPr>
      </p:sp>
      <p:sp>
        <p:nvSpPr>
          <p:cNvPr id="5" name="Shape 3"/>
          <p:cNvSpPr/>
          <p:nvPr/>
        </p:nvSpPr>
        <p:spPr>
          <a:xfrm>
            <a:off x="0" y="6172200"/>
            <a:ext cx="12188952" cy="45720"/>
          </a:xfrm>
          <a:prstGeom prst="rect">
            <a:avLst/>
          </a:prstGeom>
          <a:solidFill>
            <a:srgbClr val="2A3B63"/>
          </a:solidFill>
          <a:ln/>
        </p:spPr>
      </p:sp>
      <p:sp>
        <p:nvSpPr>
          <p:cNvPr id="6" name="Shape 4"/>
          <p:cNvSpPr/>
          <p:nvPr/>
        </p:nvSpPr>
        <p:spPr>
          <a:xfrm>
            <a:off x="365760" y="6309360"/>
            <a:ext cx="548640" cy="54864"/>
          </a:xfrm>
          <a:prstGeom prst="rect">
            <a:avLst/>
          </a:prstGeom>
          <a:solidFill>
            <a:srgbClr val="324675"/>
          </a:solidFill>
          <a:ln/>
        </p:spPr>
      </p:sp>
      <p:sp>
        <p:nvSpPr>
          <p:cNvPr id="7" name="Shape 5"/>
          <p:cNvSpPr/>
          <p:nvPr/>
        </p:nvSpPr>
        <p:spPr>
          <a:xfrm>
            <a:off x="1600200" y="6309360"/>
            <a:ext cx="548640" cy="54864"/>
          </a:xfrm>
          <a:prstGeom prst="rect">
            <a:avLst/>
          </a:prstGeom>
          <a:solidFill>
            <a:srgbClr val="324675"/>
          </a:solidFill>
          <a:ln/>
        </p:spPr>
      </p:sp>
      <p:sp>
        <p:nvSpPr>
          <p:cNvPr id="8" name="Shape 6"/>
          <p:cNvSpPr/>
          <p:nvPr/>
        </p:nvSpPr>
        <p:spPr>
          <a:xfrm>
            <a:off x="2834640" y="6309360"/>
            <a:ext cx="548640" cy="54864"/>
          </a:xfrm>
          <a:prstGeom prst="rect">
            <a:avLst/>
          </a:prstGeom>
          <a:solidFill>
            <a:srgbClr val="324675"/>
          </a:solidFill>
          <a:ln/>
        </p:spPr>
      </p:sp>
      <p:sp>
        <p:nvSpPr>
          <p:cNvPr id="9" name="Shape 7"/>
          <p:cNvSpPr/>
          <p:nvPr/>
        </p:nvSpPr>
        <p:spPr>
          <a:xfrm>
            <a:off x="4069080" y="6309360"/>
            <a:ext cx="548640" cy="54864"/>
          </a:xfrm>
          <a:prstGeom prst="rect">
            <a:avLst/>
          </a:prstGeom>
          <a:solidFill>
            <a:srgbClr val="324675"/>
          </a:solidFill>
          <a:ln/>
        </p:spPr>
      </p:sp>
      <p:sp>
        <p:nvSpPr>
          <p:cNvPr id="10" name="Shape 8"/>
          <p:cNvSpPr/>
          <p:nvPr/>
        </p:nvSpPr>
        <p:spPr>
          <a:xfrm>
            <a:off x="5303520" y="6309360"/>
            <a:ext cx="548640" cy="54864"/>
          </a:xfrm>
          <a:prstGeom prst="rect">
            <a:avLst/>
          </a:prstGeom>
          <a:solidFill>
            <a:srgbClr val="324675"/>
          </a:solidFill>
          <a:ln/>
        </p:spPr>
      </p:sp>
      <p:sp>
        <p:nvSpPr>
          <p:cNvPr id="11" name="Shape 9"/>
          <p:cNvSpPr/>
          <p:nvPr/>
        </p:nvSpPr>
        <p:spPr>
          <a:xfrm>
            <a:off x="6537960" y="6309360"/>
            <a:ext cx="548640" cy="54864"/>
          </a:xfrm>
          <a:prstGeom prst="rect">
            <a:avLst/>
          </a:prstGeom>
          <a:solidFill>
            <a:srgbClr val="324675"/>
          </a:solidFill>
          <a:ln/>
        </p:spPr>
      </p:sp>
      <p:sp>
        <p:nvSpPr>
          <p:cNvPr id="12" name="Shape 10"/>
          <p:cNvSpPr/>
          <p:nvPr/>
        </p:nvSpPr>
        <p:spPr>
          <a:xfrm>
            <a:off x="7772400" y="6309360"/>
            <a:ext cx="548640" cy="54864"/>
          </a:xfrm>
          <a:prstGeom prst="rect">
            <a:avLst/>
          </a:prstGeom>
          <a:solidFill>
            <a:srgbClr val="324675"/>
          </a:solidFill>
          <a:ln/>
        </p:spPr>
      </p:sp>
      <p:sp>
        <p:nvSpPr>
          <p:cNvPr id="13" name="Shape 11"/>
          <p:cNvSpPr/>
          <p:nvPr/>
        </p:nvSpPr>
        <p:spPr>
          <a:xfrm>
            <a:off x="9006840" y="6309360"/>
            <a:ext cx="548640" cy="54864"/>
          </a:xfrm>
          <a:prstGeom prst="rect">
            <a:avLst/>
          </a:prstGeom>
          <a:solidFill>
            <a:srgbClr val="324675"/>
          </a:solidFill>
          <a:ln/>
        </p:spPr>
      </p:sp>
      <p:sp>
        <p:nvSpPr>
          <p:cNvPr id="14" name="Shape 12"/>
          <p:cNvSpPr/>
          <p:nvPr/>
        </p:nvSpPr>
        <p:spPr>
          <a:xfrm>
            <a:off x="10241280" y="6309360"/>
            <a:ext cx="548640" cy="54864"/>
          </a:xfrm>
          <a:prstGeom prst="rect">
            <a:avLst/>
          </a:prstGeom>
          <a:solidFill>
            <a:srgbClr val="324675"/>
          </a:solidFill>
          <a:ln/>
        </p:spPr>
      </p:sp>
      <p:sp>
        <p:nvSpPr>
          <p:cNvPr id="15" name="Shape 13"/>
          <p:cNvSpPr/>
          <p:nvPr/>
        </p:nvSpPr>
        <p:spPr>
          <a:xfrm>
            <a:off x="11475720" y="6309360"/>
            <a:ext cx="548640" cy="54864"/>
          </a:xfrm>
          <a:prstGeom prst="rect">
            <a:avLst/>
          </a:prstGeom>
          <a:solidFill>
            <a:srgbClr val="324675"/>
          </a:solidFill>
          <a:ln/>
        </p:spPr>
      </p:sp>
      <p:sp>
        <p:nvSpPr>
          <p:cNvPr id="16" name="Shape 14"/>
          <p:cNvSpPr/>
          <p:nvPr/>
        </p:nvSpPr>
        <p:spPr>
          <a:xfrm>
            <a:off x="822960" y="640080"/>
            <a:ext cx="822960" cy="822960"/>
          </a:xfrm>
          <a:prstGeom prst="ellipse">
            <a:avLst/>
          </a:prstGeom>
          <a:solidFill>
            <a:srgbClr val="1E2E52"/>
          </a:solidFill>
          <a:ln/>
        </p:spPr>
      </p:sp>
      <p:pic>
        <p:nvPicPr>
          <p:cNvPr id="17" name="Image 0" descr="/home/claude/streetlight_ppt/icon_lightbulb_amber.png"/>
          <p:cNvPicPr>
            <a:picLocks noChangeAspect="1"/>
          </p:cNvPicPr>
          <p:nvPr/>
        </p:nvPicPr>
        <p:blipFill>
          <a:blip r:embed="rId3"/>
          <a:stretch>
            <a:fillRect/>
          </a:stretch>
        </p:blipFill>
        <p:spPr>
          <a:xfrm>
            <a:off x="1020470" y="837590"/>
            <a:ext cx="427939" cy="427939"/>
          </a:xfrm>
          <a:prstGeom prst="rect">
            <a:avLst/>
          </a:prstGeom>
        </p:spPr>
      </p:pic>
      <p:sp>
        <p:nvSpPr>
          <p:cNvPr id="18" name="Text 15"/>
          <p:cNvSpPr txBox="1"/>
          <p:nvPr/>
        </p:nvSpPr>
        <p:spPr>
          <a:xfrm>
            <a:off x="822960" y="2057400"/>
            <a:ext cx="9601200" cy="365760"/>
          </a:xfrm>
          <a:prstGeom prst="rect">
            <a:avLst/>
          </a:prstGeom>
          <a:noFill/>
          <a:ln/>
        </p:spPr>
        <p:txBody>
          <a:bodyPr wrap="square" lIns="0" tIns="0" rIns="0" bIns="0" rtlCol="0" anchor="ctr"/>
          <a:lstStyle/>
          <a:p>
            <a:pPr marL="0" indent="0">
              <a:buNone/>
            </a:pPr>
            <a:r>
              <a:rPr lang="en-US" sz="1300" b="1" kern="0" spc="200" dirty="0">
                <a:solidFill>
                  <a:srgbClr val="F4B942"/>
                </a:solidFill>
                <a:latin typeface="Calibri" pitchFamily="34" charset="0"/>
                <a:ea typeface="Calibri" pitchFamily="34" charset="-122"/>
                <a:cs typeface="Calibri" pitchFamily="34" charset="-120"/>
              </a:rPr>
              <a:t>DEPARTMENT OF ELECTRONICS &amp; COMMUNICATION ENGINEERING</a:t>
            </a:r>
            <a:endParaRPr lang="en-US" sz="1300" dirty="0"/>
          </a:p>
        </p:txBody>
      </p:sp>
      <p:sp>
        <p:nvSpPr>
          <p:cNvPr id="19" name="Text 16"/>
          <p:cNvSpPr txBox="1"/>
          <p:nvPr/>
        </p:nvSpPr>
        <p:spPr>
          <a:xfrm>
            <a:off x="822960" y="2468880"/>
            <a:ext cx="9875520" cy="173736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Design and Simulation of an</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Automatic Street Light Control System</a:t>
            </a:r>
            <a:endParaRPr lang="en-US" sz="4000" dirty="0"/>
          </a:p>
        </p:txBody>
      </p:sp>
      <p:sp>
        <p:nvSpPr>
          <p:cNvPr id="20" name="Text 17"/>
          <p:cNvSpPr txBox="1"/>
          <p:nvPr/>
        </p:nvSpPr>
        <p:spPr>
          <a:xfrm>
            <a:off x="822960" y="4160520"/>
            <a:ext cx="7315200" cy="36576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A Major Project Report</a:t>
            </a:r>
            <a:endParaRPr lang="en-US" sz="1500" dirty="0"/>
          </a:p>
        </p:txBody>
      </p:sp>
      <p:sp>
        <p:nvSpPr>
          <p:cNvPr id="21" name="Shape 18"/>
          <p:cNvSpPr/>
          <p:nvPr/>
        </p:nvSpPr>
        <p:spPr>
          <a:xfrm>
            <a:off x="365760" y="4709160"/>
            <a:ext cx="10515600" cy="1600200"/>
          </a:xfrm>
          <a:prstGeom prst="roundRect">
            <a:avLst>
              <a:gd name="adj" fmla="val 6857"/>
            </a:avLst>
          </a:prstGeom>
          <a:solidFill>
            <a:srgbClr val="1B2A4A"/>
          </a:solidFill>
          <a:ln w="12700">
            <a:solidFill>
              <a:srgbClr val="2E3F6B"/>
            </a:solidFill>
            <a:prstDash val="solid"/>
          </a:ln>
        </p:spPr>
      </p:sp>
      <p:sp>
        <p:nvSpPr>
          <p:cNvPr id="22" name="Text 19"/>
          <p:cNvSpPr txBox="1"/>
          <p:nvPr/>
        </p:nvSpPr>
        <p:spPr>
          <a:xfrm>
            <a:off x="1152331" y="4956048"/>
            <a:ext cx="2926080" cy="1143000"/>
          </a:xfrm>
          <a:prstGeom prst="rect">
            <a:avLst/>
          </a:prstGeom>
          <a:noFill/>
          <a:ln/>
        </p:spPr>
        <p:txBody>
          <a:bodyPr wrap="square" lIns="0" tIns="0" rIns="0" bIns="0" rtlCol="0" anchor="ctr"/>
          <a:lstStyle/>
          <a:p>
            <a:pPr marL="0" indent="0">
              <a:lnSpc>
                <a:spcPct val="125000"/>
              </a:lnSpc>
              <a:buNone/>
            </a:pPr>
            <a:r>
              <a:rPr lang="en-US" sz="1100" b="1" dirty="0">
                <a:solidFill>
                  <a:srgbClr val="F4B942"/>
                </a:solidFill>
                <a:latin typeface="Calibri" pitchFamily="34" charset="0"/>
                <a:ea typeface="Calibri" pitchFamily="34" charset="-122"/>
                <a:cs typeface="Calibri" pitchFamily="34" charset="-120"/>
              </a:rPr>
              <a:t>Submitted by
</a:t>
            </a:r>
            <a:r>
              <a:rPr lang="en-US" sz="1200" b="1" dirty="0">
                <a:solidFill>
                  <a:srgbClr val="FFFFFF"/>
                </a:solidFill>
                <a:latin typeface="Calibri" pitchFamily="34" charset="0"/>
                <a:ea typeface="Calibri" pitchFamily="34" charset="-122"/>
                <a:cs typeface="Calibri" pitchFamily="34" charset="-120"/>
              </a:rPr>
              <a:t>KATUKURI SAI KAUSHIK</a:t>
            </a:r>
            <a:r>
              <a:rPr lang="en-US" sz="1200" dirty="0">
                <a:solidFill>
                  <a:srgbClr val="FFFFFF"/>
                </a:solidFill>
                <a:latin typeface="Calibri" pitchFamily="34" charset="0"/>
                <a:ea typeface="Calibri" pitchFamily="34" charset="-122"/>
                <a:cs typeface="Calibri" pitchFamily="34" charset="-120"/>
              </a:rPr>
              <a:t>  —  </a:t>
            </a:r>
            <a:r>
              <a:rPr lang="en-US" sz="1200" b="1" dirty="0">
                <a:solidFill>
                  <a:srgbClr val="FFFFFF"/>
                </a:solidFill>
                <a:latin typeface="Calibri" pitchFamily="34" charset="0"/>
                <a:ea typeface="Calibri" pitchFamily="34" charset="-122"/>
                <a:cs typeface="Calibri" pitchFamily="34" charset="-120"/>
              </a:rPr>
              <a:t>2620040013</a:t>
            </a:r>
            <a:r>
              <a:rPr lang="en-US" sz="1200" dirty="0">
                <a:solidFill>
                  <a:srgbClr val="FFFFFF"/>
                </a:solidFill>
                <a:latin typeface="Calibri" pitchFamily="34" charset="0"/>
                <a:ea typeface="Calibri" pitchFamily="34" charset="-122"/>
                <a:cs typeface="Calibri" pitchFamily="34" charset="-120"/>
              </a:rPr>
              <a:t> 
</a:t>
            </a:r>
            <a:r>
              <a:rPr lang="en-US" sz="1200" b="1" dirty="0">
                <a:solidFill>
                  <a:srgbClr val="FFFFFF"/>
                </a:solidFill>
                <a:latin typeface="Calibri" pitchFamily="34" charset="0"/>
                <a:ea typeface="Calibri" pitchFamily="34" charset="-122"/>
                <a:cs typeface="Calibri" pitchFamily="34" charset="-120"/>
              </a:rPr>
              <a:t>PINNAMANENI MOKSHA SRI  </a:t>
            </a:r>
            <a:r>
              <a:rPr lang="en-US" sz="1200" dirty="0">
                <a:solidFill>
                  <a:srgbClr val="FFFFFF"/>
                </a:solidFill>
                <a:latin typeface="Calibri" pitchFamily="34" charset="0"/>
                <a:ea typeface="Calibri" pitchFamily="34" charset="-122"/>
                <a:cs typeface="Calibri" pitchFamily="34" charset="-120"/>
              </a:rPr>
              <a:t>—  </a:t>
            </a:r>
            <a:r>
              <a:rPr lang="en-US" sz="1200" b="1" dirty="0">
                <a:solidFill>
                  <a:srgbClr val="FFFFFF"/>
                </a:solidFill>
                <a:latin typeface="Calibri" pitchFamily="34" charset="0"/>
                <a:ea typeface="Calibri" pitchFamily="34" charset="-122"/>
                <a:cs typeface="Calibri" pitchFamily="34" charset="-120"/>
              </a:rPr>
              <a:t>2620040034</a:t>
            </a:r>
            <a:r>
              <a:rPr lang="en-US" sz="1200" dirty="0">
                <a:solidFill>
                  <a:srgbClr val="FFFFFF"/>
                </a:solidFill>
                <a:latin typeface="Calibri" pitchFamily="34" charset="0"/>
                <a:ea typeface="Calibri" pitchFamily="34" charset="-122"/>
                <a:cs typeface="Calibri" pitchFamily="34" charset="-120"/>
              </a:rPr>
              <a:t>
</a:t>
            </a:r>
            <a:r>
              <a:rPr lang="en-US" sz="1200" b="1" dirty="0">
                <a:solidFill>
                  <a:srgbClr val="FFFFFF"/>
                </a:solidFill>
                <a:latin typeface="Calibri" pitchFamily="34" charset="0"/>
                <a:ea typeface="Calibri" pitchFamily="34" charset="-122"/>
                <a:cs typeface="Calibri" pitchFamily="34" charset="-120"/>
              </a:rPr>
              <a:t>K VINAY </a:t>
            </a:r>
            <a:r>
              <a:rPr lang="en-US" sz="1200" dirty="0">
                <a:solidFill>
                  <a:srgbClr val="FFFFFF"/>
                </a:solidFill>
                <a:latin typeface="Calibri" pitchFamily="34" charset="0"/>
                <a:ea typeface="Calibri" pitchFamily="34" charset="-122"/>
                <a:cs typeface="Calibri" pitchFamily="34" charset="-120"/>
              </a:rPr>
              <a:t>—  </a:t>
            </a:r>
            <a:r>
              <a:rPr lang="en-US" sz="1200" b="1" dirty="0">
                <a:solidFill>
                  <a:srgbClr val="FFFFFF"/>
                </a:solidFill>
                <a:latin typeface="Calibri" pitchFamily="34" charset="0"/>
                <a:ea typeface="Calibri" pitchFamily="34" charset="-122"/>
                <a:cs typeface="Calibri" pitchFamily="34" charset="-120"/>
              </a:rPr>
              <a:t>2620040050</a:t>
            </a:r>
            <a:endParaRPr lang="en-US" sz="1100" b="1" dirty="0"/>
          </a:p>
        </p:txBody>
      </p:sp>
      <p:sp>
        <p:nvSpPr>
          <p:cNvPr id="23" name="Text 20"/>
          <p:cNvSpPr txBox="1"/>
          <p:nvPr/>
        </p:nvSpPr>
        <p:spPr>
          <a:xfrm>
            <a:off x="1127760" y="5929884"/>
            <a:ext cx="2926080" cy="268348"/>
          </a:xfrm>
          <a:prstGeom prst="rect">
            <a:avLst/>
          </a:prstGeom>
          <a:noFill/>
          <a:ln/>
        </p:spPr>
        <p:txBody>
          <a:bodyPr wrap="square" lIns="0" tIns="0" rIns="0" bIns="0" rtlCol="0" anchor="ctr"/>
          <a:lstStyle/>
          <a:p>
            <a:pPr marL="0" indent="0">
              <a:lnSpc>
                <a:spcPct val="125000"/>
              </a:lnSpc>
              <a:buNone/>
            </a:pPr>
            <a:r>
              <a:rPr lang="en-US" sz="1100" b="1" dirty="0"/>
              <a:t>SAI CHARAN VEDULA-2620040062</a:t>
            </a:r>
          </a:p>
        </p:txBody>
      </p:sp>
      <p:sp>
        <p:nvSpPr>
          <p:cNvPr id="24" name="Text 21"/>
          <p:cNvSpPr txBox="1"/>
          <p:nvPr/>
        </p:nvSpPr>
        <p:spPr>
          <a:xfrm>
            <a:off x="7498080" y="4956048"/>
            <a:ext cx="3566160" cy="1143000"/>
          </a:xfrm>
          <a:prstGeom prst="rect">
            <a:avLst/>
          </a:prstGeom>
          <a:noFill/>
          <a:ln/>
        </p:spPr>
        <p:txBody>
          <a:bodyPr wrap="square" lIns="0" tIns="0" rIns="0" bIns="0" rtlCol="0" anchor="ctr"/>
          <a:lstStyle/>
          <a:p>
            <a:pPr marL="0" indent="0">
              <a:lnSpc>
                <a:spcPct val="125000"/>
              </a:lnSpc>
              <a:buNone/>
            </a:pPr>
            <a:r>
              <a:rPr lang="en-US" sz="1100" b="1" dirty="0">
                <a:solidFill>
                  <a:srgbClr val="F4B942"/>
                </a:solidFill>
                <a:latin typeface="Calibri" pitchFamily="34" charset="0"/>
                <a:ea typeface="Calibri" pitchFamily="34" charset="-122"/>
                <a:cs typeface="Calibri" pitchFamily="34" charset="-120"/>
              </a:rPr>
              <a:t>Institution
</a:t>
            </a:r>
            <a:r>
              <a:rPr lang="en-US" sz="1200" b="1" dirty="0">
                <a:solidFill>
                  <a:srgbClr val="FFFFFF"/>
                </a:solidFill>
                <a:latin typeface="Calibri" pitchFamily="34" charset="0"/>
                <a:ea typeface="Calibri" pitchFamily="34" charset="-122"/>
                <a:cs typeface="Calibri" pitchFamily="34" charset="-120"/>
              </a:rPr>
              <a:t>KLH BACHUPALLY</a:t>
            </a:r>
            <a:r>
              <a:rPr lang="en-US" sz="1200" dirty="0">
                <a:solidFill>
                  <a:srgbClr val="FFFFFF"/>
                </a:solidFill>
                <a:latin typeface="Calibri" pitchFamily="34" charset="0"/>
                <a:ea typeface="Calibri" pitchFamily="34" charset="-122"/>
                <a:cs typeface="Calibri" pitchFamily="34" charset="-120"/>
              </a:rPr>
              <a:t>
Academic Year- 2026–2027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C98F1E"/>
                </a:solidFill>
                <a:latin typeface="Calibri" pitchFamily="34" charset="0"/>
                <a:ea typeface="Calibri" pitchFamily="34" charset="-122"/>
                <a:cs typeface="Calibri" pitchFamily="34" charset="-120"/>
              </a:rPr>
              <a:t>01 · INTRODUCTION</a:t>
            </a:r>
            <a:endParaRPr lang="en-US" sz="1300" dirty="0"/>
          </a:p>
        </p:txBody>
      </p:sp>
      <p:sp>
        <p:nvSpPr>
          <p:cNvPr id="3" name="Text 1"/>
          <p:cNvSpPr txBox="1"/>
          <p:nvPr/>
        </p:nvSpPr>
        <p:spPr>
          <a:xfrm>
            <a:off x="640080" y="713232"/>
            <a:ext cx="7315200" cy="640080"/>
          </a:xfrm>
          <a:prstGeom prst="rect">
            <a:avLst/>
          </a:prstGeom>
          <a:noFill/>
          <a:ln/>
        </p:spPr>
        <p:txBody>
          <a:bodyPr wrap="square" lIns="0" tIns="0" rIns="0" bIns="0" rtlCol="0" anchor="ctr"/>
          <a:lstStyle/>
          <a:p>
            <a:pPr marL="0" indent="0">
              <a:buNone/>
            </a:pPr>
            <a:r>
              <a:rPr lang="en-US" sz="3600" b="1" dirty="0">
                <a:solidFill>
                  <a:srgbClr val="1B2A4A"/>
                </a:solidFill>
                <a:latin typeface="Cambria" pitchFamily="34" charset="0"/>
                <a:ea typeface="Cambria" pitchFamily="34" charset="-122"/>
                <a:cs typeface="Cambria" pitchFamily="34" charset="-120"/>
              </a:rPr>
              <a:t>Introduction</a:t>
            </a:r>
            <a:endParaRPr lang="en-US" sz="3600" dirty="0"/>
          </a:p>
        </p:txBody>
      </p:sp>
      <p:sp>
        <p:nvSpPr>
          <p:cNvPr id="4" name="Text 2"/>
          <p:cNvSpPr txBox="1"/>
          <p:nvPr/>
        </p:nvSpPr>
        <p:spPr>
          <a:xfrm>
            <a:off x="640080" y="1600200"/>
            <a:ext cx="6309360" cy="4206240"/>
          </a:xfrm>
          <a:prstGeom prst="rect">
            <a:avLst/>
          </a:prstGeom>
          <a:noFill/>
          <a:ln/>
        </p:spPr>
        <p:txBody>
          <a:bodyPr wrap="square" lIns="0" tIns="0" rIns="0" bIns="0" rtlCol="0" anchor="t"/>
          <a:lstStyle/>
          <a:p>
            <a:pPr marL="0" indent="0">
              <a:lnSpc>
                <a:spcPct val="130000"/>
              </a:lnSpc>
              <a:buNone/>
            </a:pPr>
            <a:r>
              <a:rPr lang="en-US" sz="1500" dirty="0">
                <a:solidFill>
                  <a:srgbClr val="4A5568"/>
                </a:solidFill>
                <a:latin typeface="Calibri" pitchFamily="34" charset="0"/>
                <a:ea typeface="Calibri" pitchFamily="34" charset="-122"/>
                <a:cs typeface="Calibri" pitchFamily="34" charset="-120"/>
              </a:rPr>
              <a:t>Street lighting is one of the largest continuous electricity loads for any municipality, typically running on fixed timers regardless of actual traffic, ambient light, or weather.
An </a:t>
            </a:r>
            <a:r>
              <a:rPr lang="en-US" sz="1500" b="1" dirty="0">
                <a:solidFill>
                  <a:srgbClr val="1B2A4A"/>
                </a:solidFill>
                <a:latin typeface="Calibri" pitchFamily="34" charset="0"/>
                <a:ea typeface="Calibri" pitchFamily="34" charset="-122"/>
                <a:cs typeface="Calibri" pitchFamily="34" charset="-120"/>
              </a:rPr>
              <a:t>Automatic Street Light Control System</a:t>
            </a:r>
            <a:r>
              <a:rPr lang="en-US" sz="1500" dirty="0">
                <a:solidFill>
                  <a:srgbClr val="4A5568"/>
                </a:solidFill>
                <a:latin typeface="Calibri" pitchFamily="34" charset="0"/>
                <a:ea typeface="Calibri" pitchFamily="34" charset="-122"/>
                <a:cs typeface="Calibri" pitchFamily="34" charset="-120"/>
              </a:rPr>
              <a:t> uses sensing and embedded control to switch lights ON only when ambient darkness demands it, and OFF (or dimmed) when daylight or motion conditions allow — cutting waste without cutting safety.
This project falls within the domain of </a:t>
            </a:r>
            <a:r>
              <a:rPr lang="en-US" sz="1500" b="1" dirty="0">
                <a:solidFill>
                  <a:srgbClr val="1B2A4A"/>
                </a:solidFill>
                <a:latin typeface="Calibri" pitchFamily="34" charset="0"/>
                <a:ea typeface="Calibri" pitchFamily="34" charset="-122"/>
                <a:cs typeface="Calibri" pitchFamily="34" charset="-120"/>
              </a:rPr>
              <a:t>Embedded Systems and Automation</a:t>
            </a:r>
            <a:r>
              <a:rPr lang="en-US" sz="1500" dirty="0">
                <a:solidFill>
                  <a:srgbClr val="4A5568"/>
                </a:solidFill>
                <a:latin typeface="Calibri" pitchFamily="34" charset="0"/>
                <a:ea typeface="Calibri" pitchFamily="34" charset="-122"/>
                <a:cs typeface="Calibri" pitchFamily="34" charset="-120"/>
              </a:rPr>
              <a:t>, combining sensor electronics, microcontroller-based logic, and power switching to build an energy-efficient, low-maintenance lighting solution suited for smart-city infrastructure.</a:t>
            </a:r>
            <a:endParaRPr lang="en-US" sz="1500" dirty="0"/>
          </a:p>
        </p:txBody>
      </p:sp>
      <p:sp>
        <p:nvSpPr>
          <p:cNvPr id="5" name="Shape 3"/>
          <p:cNvSpPr/>
          <p:nvPr/>
        </p:nvSpPr>
        <p:spPr>
          <a:xfrm>
            <a:off x="7315200" y="1600200"/>
            <a:ext cx="4206240" cy="1298448"/>
          </a:xfrm>
          <a:prstGeom prst="roundRect">
            <a:avLst>
              <a:gd name="adj" fmla="val 7042"/>
            </a:avLst>
          </a:prstGeom>
          <a:solidFill>
            <a:srgbClr val="FFFFFF"/>
          </a:solidFill>
          <a:ln w="12700">
            <a:solidFill>
              <a:srgbClr val="E3E7F1"/>
            </a:solidFill>
            <a:prstDash val="solid"/>
          </a:ln>
          <a:effectLst>
            <a:outerShdw blurRad="101600" dist="25400" dir="5400000" algn="bl" rotWithShape="0">
              <a:srgbClr val="1B2A4A">
                <a:alpha val="12000"/>
              </a:srgbClr>
            </a:outerShdw>
          </a:effectLst>
        </p:spPr>
      </p:sp>
      <p:sp>
        <p:nvSpPr>
          <p:cNvPr id="6" name="Shape 4"/>
          <p:cNvSpPr/>
          <p:nvPr/>
        </p:nvSpPr>
        <p:spPr>
          <a:xfrm>
            <a:off x="7543800" y="1837944"/>
            <a:ext cx="822960" cy="822960"/>
          </a:xfrm>
          <a:prstGeom prst="ellipse">
            <a:avLst/>
          </a:prstGeom>
          <a:solidFill>
            <a:srgbClr val="EEF2FB"/>
          </a:solidFill>
          <a:ln/>
        </p:spPr>
      </p:sp>
      <p:pic>
        <p:nvPicPr>
          <p:cNvPr id="7" name="Image 0" descr="/home/claude/streetlight_ppt/icon_ebolt_navy.png"/>
          <p:cNvPicPr>
            <a:picLocks noChangeAspect="1"/>
          </p:cNvPicPr>
          <p:nvPr/>
        </p:nvPicPr>
        <p:blipFill>
          <a:blip r:embed="rId3"/>
          <a:stretch>
            <a:fillRect/>
          </a:stretch>
        </p:blipFill>
        <p:spPr>
          <a:xfrm>
            <a:off x="7741310" y="2035454"/>
            <a:ext cx="427939" cy="427939"/>
          </a:xfrm>
          <a:prstGeom prst="rect">
            <a:avLst/>
          </a:prstGeom>
        </p:spPr>
      </p:pic>
      <p:sp>
        <p:nvSpPr>
          <p:cNvPr id="8" name="Text 5"/>
          <p:cNvSpPr txBox="1"/>
          <p:nvPr/>
        </p:nvSpPr>
        <p:spPr>
          <a:xfrm>
            <a:off x="8549640" y="1764792"/>
            <a:ext cx="2834640" cy="32004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Energy Efficiency</a:t>
            </a:r>
            <a:endParaRPr lang="en-US" sz="1400" dirty="0"/>
          </a:p>
        </p:txBody>
      </p:sp>
      <p:sp>
        <p:nvSpPr>
          <p:cNvPr id="9" name="Text 6"/>
          <p:cNvSpPr txBox="1"/>
          <p:nvPr/>
        </p:nvSpPr>
        <p:spPr>
          <a:xfrm>
            <a:off x="8549640" y="2103120"/>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Lights operate only when needed, reducing grid load and wasted power.</a:t>
            </a:r>
            <a:endParaRPr lang="en-US" sz="1050" dirty="0"/>
          </a:p>
        </p:txBody>
      </p:sp>
      <p:sp>
        <p:nvSpPr>
          <p:cNvPr id="10" name="Shape 7"/>
          <p:cNvSpPr/>
          <p:nvPr/>
        </p:nvSpPr>
        <p:spPr>
          <a:xfrm>
            <a:off x="7315200" y="3081528"/>
            <a:ext cx="4206240" cy="1298448"/>
          </a:xfrm>
          <a:prstGeom prst="roundRect">
            <a:avLst>
              <a:gd name="adj" fmla="val 7042"/>
            </a:avLst>
          </a:prstGeom>
          <a:solidFill>
            <a:srgbClr val="FFFFFF"/>
          </a:solidFill>
          <a:ln w="12700">
            <a:solidFill>
              <a:srgbClr val="E3E7F1"/>
            </a:solidFill>
            <a:prstDash val="solid"/>
          </a:ln>
          <a:effectLst>
            <a:outerShdw blurRad="101600" dist="25400" dir="5400000" algn="bl" rotWithShape="0">
              <a:srgbClr val="1B2A4A">
                <a:alpha val="12000"/>
              </a:srgbClr>
            </a:outerShdw>
          </a:effectLst>
        </p:spPr>
      </p:sp>
      <p:sp>
        <p:nvSpPr>
          <p:cNvPr id="11" name="Shape 8"/>
          <p:cNvSpPr/>
          <p:nvPr/>
        </p:nvSpPr>
        <p:spPr>
          <a:xfrm>
            <a:off x="7543800" y="3319272"/>
            <a:ext cx="822960" cy="822960"/>
          </a:xfrm>
          <a:prstGeom prst="ellipse">
            <a:avLst/>
          </a:prstGeom>
          <a:solidFill>
            <a:srgbClr val="EEF2FB"/>
          </a:solidFill>
          <a:ln/>
        </p:spPr>
      </p:sp>
      <p:pic>
        <p:nvPicPr>
          <p:cNvPr id="12" name="Image 1" descr="/home/claude/streetlight_ppt/icon_road_navy.png"/>
          <p:cNvPicPr>
            <a:picLocks noChangeAspect="1"/>
          </p:cNvPicPr>
          <p:nvPr/>
        </p:nvPicPr>
        <p:blipFill>
          <a:blip r:embed="rId4"/>
          <a:stretch>
            <a:fillRect/>
          </a:stretch>
        </p:blipFill>
        <p:spPr>
          <a:xfrm>
            <a:off x="7741310" y="3516782"/>
            <a:ext cx="427939" cy="427939"/>
          </a:xfrm>
          <a:prstGeom prst="rect">
            <a:avLst/>
          </a:prstGeom>
        </p:spPr>
      </p:pic>
      <p:sp>
        <p:nvSpPr>
          <p:cNvPr id="13" name="Text 9"/>
          <p:cNvSpPr txBox="1"/>
          <p:nvPr/>
        </p:nvSpPr>
        <p:spPr>
          <a:xfrm>
            <a:off x="8549640" y="3246120"/>
            <a:ext cx="2834640" cy="32004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Smart Infrastructure</a:t>
            </a:r>
            <a:endParaRPr lang="en-US" sz="1400" dirty="0"/>
          </a:p>
        </p:txBody>
      </p:sp>
      <p:sp>
        <p:nvSpPr>
          <p:cNvPr id="14" name="Text 10"/>
          <p:cNvSpPr txBox="1"/>
          <p:nvPr/>
        </p:nvSpPr>
        <p:spPr>
          <a:xfrm>
            <a:off x="8549640" y="3584448"/>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A building block for smart-city and IoT-enabled municipal systems.</a:t>
            </a:r>
            <a:endParaRPr lang="en-US" sz="1050" dirty="0"/>
          </a:p>
        </p:txBody>
      </p:sp>
      <p:sp>
        <p:nvSpPr>
          <p:cNvPr id="15" name="Shape 11"/>
          <p:cNvSpPr/>
          <p:nvPr/>
        </p:nvSpPr>
        <p:spPr>
          <a:xfrm>
            <a:off x="7315200" y="4562856"/>
            <a:ext cx="4206240" cy="1298448"/>
          </a:xfrm>
          <a:prstGeom prst="roundRect">
            <a:avLst>
              <a:gd name="adj" fmla="val 7042"/>
            </a:avLst>
          </a:prstGeom>
          <a:solidFill>
            <a:srgbClr val="FFFFFF"/>
          </a:solidFill>
          <a:ln w="12700">
            <a:solidFill>
              <a:srgbClr val="E3E7F1"/>
            </a:solidFill>
            <a:prstDash val="solid"/>
          </a:ln>
          <a:effectLst>
            <a:outerShdw blurRad="101600" dist="25400" dir="5400000" algn="bl" rotWithShape="0">
              <a:srgbClr val="1B2A4A">
                <a:alpha val="12000"/>
              </a:srgbClr>
            </a:outerShdw>
          </a:effectLst>
        </p:spPr>
      </p:sp>
      <p:sp>
        <p:nvSpPr>
          <p:cNvPr id="16" name="Shape 12"/>
          <p:cNvSpPr/>
          <p:nvPr/>
        </p:nvSpPr>
        <p:spPr>
          <a:xfrm>
            <a:off x="7543800" y="4800600"/>
            <a:ext cx="822960" cy="822960"/>
          </a:xfrm>
          <a:prstGeom prst="ellipse">
            <a:avLst/>
          </a:prstGeom>
          <a:solidFill>
            <a:srgbClr val="EEF2FB"/>
          </a:solidFill>
          <a:ln/>
        </p:spPr>
      </p:sp>
      <p:pic>
        <p:nvPicPr>
          <p:cNvPr id="17" name="Image 2" descr="/home/claude/streetlight_ppt/icon_check_navy.png"/>
          <p:cNvPicPr>
            <a:picLocks noChangeAspect="1"/>
          </p:cNvPicPr>
          <p:nvPr/>
        </p:nvPicPr>
        <p:blipFill>
          <a:blip r:embed="rId5"/>
          <a:stretch>
            <a:fillRect/>
          </a:stretch>
        </p:blipFill>
        <p:spPr>
          <a:xfrm>
            <a:off x="7741310" y="4998110"/>
            <a:ext cx="427939" cy="427939"/>
          </a:xfrm>
          <a:prstGeom prst="rect">
            <a:avLst/>
          </a:prstGeom>
        </p:spPr>
      </p:pic>
      <p:sp>
        <p:nvSpPr>
          <p:cNvPr id="18" name="Text 13"/>
          <p:cNvSpPr txBox="1"/>
          <p:nvPr/>
        </p:nvSpPr>
        <p:spPr>
          <a:xfrm>
            <a:off x="8549640" y="4727448"/>
            <a:ext cx="2834640" cy="32004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Low Maintenance</a:t>
            </a:r>
            <a:endParaRPr lang="en-US" sz="1400" dirty="0"/>
          </a:p>
        </p:txBody>
      </p:sp>
      <p:sp>
        <p:nvSpPr>
          <p:cNvPr id="19" name="Text 14"/>
          <p:cNvSpPr txBox="1"/>
          <p:nvPr/>
        </p:nvSpPr>
        <p:spPr>
          <a:xfrm>
            <a:off x="8549640" y="5065776"/>
            <a:ext cx="2880360" cy="68580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Automatic operation removes dependence on manual switching.</a:t>
            </a:r>
            <a:endParaRPr lang="en-US" sz="1050" dirty="0"/>
          </a:p>
        </p:txBody>
      </p:sp>
      <p:sp>
        <p:nvSpPr>
          <p:cNvPr id="20" name="Text 15"/>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9AA3B8"/>
                </a:solidFill>
                <a:latin typeface="Calibri" pitchFamily="34" charset="0"/>
                <a:ea typeface="Calibri" pitchFamily="34" charset="-122"/>
                <a:cs typeface="Calibri" pitchFamily="34" charset="-120"/>
              </a:rPr>
              <a:t>Automatic Street Light Control System</a:t>
            </a:r>
            <a:endParaRPr lang="en-US" sz="900" dirty="0"/>
          </a:p>
        </p:txBody>
      </p:sp>
      <p:sp>
        <p:nvSpPr>
          <p:cNvPr id="21" name="Text 16"/>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C98F1E"/>
                </a:solidFill>
                <a:latin typeface="Calibri" pitchFamily="34" charset="0"/>
                <a:ea typeface="Calibri" pitchFamily="34" charset="-122"/>
                <a:cs typeface="Calibri" pitchFamily="34" charset="-120"/>
              </a:rPr>
              <a:t>02 · PROBLEM STATEMENT</a:t>
            </a:r>
            <a:endParaRPr lang="en-US" sz="1300" dirty="0"/>
          </a:p>
        </p:txBody>
      </p:sp>
      <p:sp>
        <p:nvSpPr>
          <p:cNvPr id="3" name="Text 1"/>
          <p:cNvSpPr txBox="1"/>
          <p:nvPr/>
        </p:nvSpPr>
        <p:spPr>
          <a:xfrm>
            <a:off x="640080" y="713232"/>
            <a:ext cx="8229600" cy="640080"/>
          </a:xfrm>
          <a:prstGeom prst="rect">
            <a:avLst/>
          </a:prstGeom>
          <a:noFill/>
          <a:ln/>
        </p:spPr>
        <p:txBody>
          <a:bodyPr wrap="square" lIns="0" tIns="0" rIns="0" bIns="0" rtlCol="0" anchor="ctr"/>
          <a:lstStyle/>
          <a:p>
            <a:pPr marL="0" indent="0">
              <a:buNone/>
            </a:pPr>
            <a:r>
              <a:rPr lang="en-US" sz="3600" b="1" dirty="0">
                <a:solidFill>
                  <a:srgbClr val="1B2A4A"/>
                </a:solidFill>
                <a:latin typeface="Cambria" pitchFamily="34" charset="0"/>
                <a:ea typeface="Cambria" pitchFamily="34" charset="-122"/>
                <a:cs typeface="Cambria" pitchFamily="34" charset="-120"/>
              </a:rPr>
              <a:t>Problem Statement</a:t>
            </a:r>
            <a:endParaRPr lang="en-US" sz="3600" dirty="0"/>
          </a:p>
        </p:txBody>
      </p:sp>
      <p:sp>
        <p:nvSpPr>
          <p:cNvPr id="4" name="Shape 2"/>
          <p:cNvSpPr/>
          <p:nvPr/>
        </p:nvSpPr>
        <p:spPr>
          <a:xfrm>
            <a:off x="640080" y="1554480"/>
            <a:ext cx="10881360" cy="1051560"/>
          </a:xfrm>
          <a:prstGeom prst="roundRect">
            <a:avLst>
              <a:gd name="adj" fmla="val 8696"/>
            </a:avLst>
          </a:prstGeom>
          <a:solidFill>
            <a:srgbClr val="1B2A4A"/>
          </a:solidFill>
          <a:ln/>
        </p:spPr>
      </p:sp>
      <p:sp>
        <p:nvSpPr>
          <p:cNvPr id="5" name="Shape 3"/>
          <p:cNvSpPr/>
          <p:nvPr/>
        </p:nvSpPr>
        <p:spPr>
          <a:xfrm>
            <a:off x="896112" y="1801368"/>
            <a:ext cx="566928" cy="566928"/>
          </a:xfrm>
          <a:prstGeom prst="ellipse">
            <a:avLst/>
          </a:prstGeom>
          <a:solidFill>
            <a:srgbClr val="F4B942"/>
          </a:solidFill>
          <a:ln/>
        </p:spPr>
      </p:sp>
      <p:pic>
        <p:nvPicPr>
          <p:cNvPr id="6" name="Image 0" descr="/home/claude/streetlight_ppt/icon_warning_navy.png"/>
          <p:cNvPicPr>
            <a:picLocks noChangeAspect="1"/>
          </p:cNvPicPr>
          <p:nvPr/>
        </p:nvPicPr>
        <p:blipFill>
          <a:blip r:embed="rId3"/>
          <a:stretch>
            <a:fillRect/>
          </a:stretch>
        </p:blipFill>
        <p:spPr>
          <a:xfrm>
            <a:off x="1005840" y="1911096"/>
            <a:ext cx="347472" cy="347472"/>
          </a:xfrm>
          <a:prstGeom prst="rect">
            <a:avLst/>
          </a:prstGeom>
        </p:spPr>
      </p:pic>
      <p:sp>
        <p:nvSpPr>
          <p:cNvPr id="7" name="Text 4"/>
          <p:cNvSpPr txBox="1"/>
          <p:nvPr/>
        </p:nvSpPr>
        <p:spPr>
          <a:xfrm>
            <a:off x="1691640" y="1691640"/>
            <a:ext cx="9601200" cy="82296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Calibri" pitchFamily="34" charset="0"/>
                <a:ea typeface="Calibri" pitchFamily="34" charset="-122"/>
                <a:cs typeface="Calibri" pitchFamily="34" charset="-120"/>
              </a:rPr>
              <a:t>Conventional street lighting relies on fixed timers or manual switching, operating at full brightness through the entire night irrespective of real ambient light levels or road usage.</a:t>
            </a:r>
            <a:endParaRPr lang="en-US" sz="1350" dirty="0"/>
          </a:p>
        </p:txBody>
      </p:sp>
      <p:sp>
        <p:nvSpPr>
          <p:cNvPr id="8" name="Text 5"/>
          <p:cNvSpPr txBox="1"/>
          <p:nvPr/>
        </p:nvSpPr>
        <p:spPr>
          <a:xfrm>
            <a:off x="640080" y="2880360"/>
            <a:ext cx="7315200" cy="36576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Key Limitations of the Existing Approach</a:t>
            </a:r>
            <a:endParaRPr lang="en-US" sz="1500" dirty="0"/>
          </a:p>
        </p:txBody>
      </p:sp>
      <p:sp>
        <p:nvSpPr>
          <p:cNvPr id="9" name="Shape 6"/>
          <p:cNvSpPr/>
          <p:nvPr/>
        </p:nvSpPr>
        <p:spPr>
          <a:xfrm>
            <a:off x="640080" y="3337560"/>
            <a:ext cx="5257800" cy="1417320"/>
          </a:xfrm>
          <a:prstGeom prst="roundRect">
            <a:avLst>
              <a:gd name="adj" fmla="val 5161"/>
            </a:avLst>
          </a:prstGeom>
          <a:solidFill>
            <a:srgbClr val="FFFFFF"/>
          </a:solidFill>
          <a:ln w="12700">
            <a:solidFill>
              <a:srgbClr val="E3E7F1"/>
            </a:solidFill>
            <a:prstDash val="solid"/>
          </a:ln>
        </p:spPr>
      </p:sp>
      <p:sp>
        <p:nvSpPr>
          <p:cNvPr id="10" name="Shape 7"/>
          <p:cNvSpPr/>
          <p:nvPr/>
        </p:nvSpPr>
        <p:spPr>
          <a:xfrm>
            <a:off x="868680" y="3538728"/>
            <a:ext cx="109728" cy="109728"/>
          </a:xfrm>
          <a:prstGeom prst="roundRect">
            <a:avLst>
              <a:gd name="adj" fmla="val 50000"/>
            </a:avLst>
          </a:prstGeom>
          <a:solidFill>
            <a:srgbClr val="C98F1E"/>
          </a:solidFill>
          <a:ln/>
        </p:spPr>
      </p:sp>
      <p:sp>
        <p:nvSpPr>
          <p:cNvPr id="11" name="Text 8"/>
          <p:cNvSpPr txBox="1"/>
          <p:nvPr/>
        </p:nvSpPr>
        <p:spPr>
          <a:xfrm>
            <a:off x="1097280" y="3474720"/>
            <a:ext cx="461772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Energy Wastage</a:t>
            </a:r>
            <a:endParaRPr lang="en-US" sz="1350" dirty="0"/>
          </a:p>
        </p:txBody>
      </p:sp>
      <p:sp>
        <p:nvSpPr>
          <p:cNvPr id="12" name="Text 9"/>
          <p:cNvSpPr txBox="1"/>
          <p:nvPr/>
        </p:nvSpPr>
        <p:spPr>
          <a:xfrm>
            <a:off x="868680" y="3794760"/>
            <a:ext cx="4800600" cy="868680"/>
          </a:xfrm>
          <a:prstGeom prst="rect">
            <a:avLst/>
          </a:prstGeom>
          <a:noFill/>
          <a:ln/>
        </p:spPr>
        <p:txBody>
          <a:bodyPr wrap="square" lIns="0" tIns="0" rIns="0" bIns="0" rtlCol="0" anchor="ctr"/>
          <a:lstStyle/>
          <a:p>
            <a:pPr marL="0" indent="0">
              <a:lnSpc>
                <a:spcPct val="120000"/>
              </a:lnSpc>
              <a:buNone/>
            </a:pPr>
            <a:r>
              <a:rPr lang="en-US" sz="1100" dirty="0">
                <a:solidFill>
                  <a:srgbClr val="4A5568"/>
                </a:solidFill>
                <a:latin typeface="Calibri" pitchFamily="34" charset="0"/>
                <a:ea typeface="Calibri" pitchFamily="34" charset="-122"/>
                <a:cs typeface="Calibri" pitchFamily="34" charset="-120"/>
              </a:rPr>
              <a:t>Lights stay on during moonlit nights, early dawn, or when no vehicles/pedestrians are present.</a:t>
            </a:r>
            <a:endParaRPr lang="en-US" sz="1100" dirty="0"/>
          </a:p>
        </p:txBody>
      </p:sp>
      <p:sp>
        <p:nvSpPr>
          <p:cNvPr id="13" name="Shape 10"/>
          <p:cNvSpPr/>
          <p:nvPr/>
        </p:nvSpPr>
        <p:spPr>
          <a:xfrm>
            <a:off x="6263640" y="3337560"/>
            <a:ext cx="5257800" cy="1417320"/>
          </a:xfrm>
          <a:prstGeom prst="roundRect">
            <a:avLst>
              <a:gd name="adj" fmla="val 5161"/>
            </a:avLst>
          </a:prstGeom>
          <a:solidFill>
            <a:srgbClr val="FFFFFF"/>
          </a:solidFill>
          <a:ln w="12700">
            <a:solidFill>
              <a:srgbClr val="E3E7F1"/>
            </a:solidFill>
            <a:prstDash val="solid"/>
          </a:ln>
        </p:spPr>
      </p:sp>
      <p:sp>
        <p:nvSpPr>
          <p:cNvPr id="14" name="Shape 11"/>
          <p:cNvSpPr/>
          <p:nvPr/>
        </p:nvSpPr>
        <p:spPr>
          <a:xfrm>
            <a:off x="6492240" y="3538728"/>
            <a:ext cx="109728" cy="109728"/>
          </a:xfrm>
          <a:prstGeom prst="roundRect">
            <a:avLst>
              <a:gd name="adj" fmla="val 50000"/>
            </a:avLst>
          </a:prstGeom>
          <a:solidFill>
            <a:srgbClr val="C98F1E"/>
          </a:solidFill>
          <a:ln/>
        </p:spPr>
      </p:sp>
      <p:sp>
        <p:nvSpPr>
          <p:cNvPr id="15" name="Text 12"/>
          <p:cNvSpPr txBox="1"/>
          <p:nvPr/>
        </p:nvSpPr>
        <p:spPr>
          <a:xfrm>
            <a:off x="6720840" y="3474720"/>
            <a:ext cx="461772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Manual Dependency</a:t>
            </a:r>
            <a:endParaRPr lang="en-US" sz="1350" dirty="0"/>
          </a:p>
        </p:txBody>
      </p:sp>
      <p:sp>
        <p:nvSpPr>
          <p:cNvPr id="16" name="Text 13"/>
          <p:cNvSpPr txBox="1"/>
          <p:nvPr/>
        </p:nvSpPr>
        <p:spPr>
          <a:xfrm>
            <a:off x="6492240" y="3794760"/>
            <a:ext cx="4800600" cy="868680"/>
          </a:xfrm>
          <a:prstGeom prst="rect">
            <a:avLst/>
          </a:prstGeom>
          <a:noFill/>
          <a:ln/>
        </p:spPr>
        <p:txBody>
          <a:bodyPr wrap="square" lIns="0" tIns="0" rIns="0" bIns="0" rtlCol="0" anchor="ctr"/>
          <a:lstStyle/>
          <a:p>
            <a:pPr marL="0" indent="0">
              <a:lnSpc>
                <a:spcPct val="120000"/>
              </a:lnSpc>
              <a:buNone/>
            </a:pPr>
            <a:r>
              <a:rPr lang="en-US" sz="1100" dirty="0">
                <a:solidFill>
                  <a:srgbClr val="4A5568"/>
                </a:solidFill>
                <a:latin typeface="Calibri" pitchFamily="34" charset="0"/>
                <a:ea typeface="Calibri" pitchFamily="34" charset="-122"/>
                <a:cs typeface="Calibri" pitchFamily="34" charset="-120"/>
              </a:rPr>
              <a:t>Human-operated switching is inconsistent, delayed, and prone to error.</a:t>
            </a:r>
            <a:endParaRPr lang="en-US" sz="1100" dirty="0"/>
          </a:p>
        </p:txBody>
      </p:sp>
      <p:sp>
        <p:nvSpPr>
          <p:cNvPr id="17" name="Shape 14"/>
          <p:cNvSpPr/>
          <p:nvPr/>
        </p:nvSpPr>
        <p:spPr>
          <a:xfrm>
            <a:off x="640080" y="4983480"/>
            <a:ext cx="5257800" cy="1417320"/>
          </a:xfrm>
          <a:prstGeom prst="roundRect">
            <a:avLst>
              <a:gd name="adj" fmla="val 5161"/>
            </a:avLst>
          </a:prstGeom>
          <a:solidFill>
            <a:srgbClr val="FFFFFF"/>
          </a:solidFill>
          <a:ln w="12700">
            <a:solidFill>
              <a:srgbClr val="E3E7F1"/>
            </a:solidFill>
            <a:prstDash val="solid"/>
          </a:ln>
        </p:spPr>
      </p:sp>
      <p:sp>
        <p:nvSpPr>
          <p:cNvPr id="18" name="Shape 15"/>
          <p:cNvSpPr/>
          <p:nvPr/>
        </p:nvSpPr>
        <p:spPr>
          <a:xfrm>
            <a:off x="868680" y="5184648"/>
            <a:ext cx="109728" cy="109728"/>
          </a:xfrm>
          <a:prstGeom prst="roundRect">
            <a:avLst>
              <a:gd name="adj" fmla="val 50000"/>
            </a:avLst>
          </a:prstGeom>
          <a:solidFill>
            <a:srgbClr val="C98F1E"/>
          </a:solidFill>
          <a:ln/>
        </p:spPr>
      </p:sp>
      <p:sp>
        <p:nvSpPr>
          <p:cNvPr id="19" name="Text 16"/>
          <p:cNvSpPr txBox="1"/>
          <p:nvPr/>
        </p:nvSpPr>
        <p:spPr>
          <a:xfrm>
            <a:off x="1097280" y="5120640"/>
            <a:ext cx="461772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No Adaptability</a:t>
            </a:r>
            <a:endParaRPr lang="en-US" sz="1350" dirty="0"/>
          </a:p>
        </p:txBody>
      </p:sp>
      <p:sp>
        <p:nvSpPr>
          <p:cNvPr id="20" name="Text 17"/>
          <p:cNvSpPr txBox="1"/>
          <p:nvPr/>
        </p:nvSpPr>
        <p:spPr>
          <a:xfrm>
            <a:off x="868680" y="5440680"/>
            <a:ext cx="4800600" cy="868680"/>
          </a:xfrm>
          <a:prstGeom prst="rect">
            <a:avLst/>
          </a:prstGeom>
          <a:noFill/>
          <a:ln/>
        </p:spPr>
        <p:txBody>
          <a:bodyPr wrap="square" lIns="0" tIns="0" rIns="0" bIns="0" rtlCol="0" anchor="ctr"/>
          <a:lstStyle/>
          <a:p>
            <a:pPr marL="0" indent="0">
              <a:lnSpc>
                <a:spcPct val="120000"/>
              </a:lnSpc>
              <a:buNone/>
            </a:pPr>
            <a:r>
              <a:rPr lang="en-US" sz="1100" dirty="0">
                <a:solidFill>
                  <a:srgbClr val="4A5568"/>
                </a:solidFill>
                <a:latin typeface="Calibri" pitchFamily="34" charset="0"/>
                <a:ea typeface="Calibri" pitchFamily="34" charset="-122"/>
                <a:cs typeface="Calibri" pitchFamily="34" charset="-120"/>
              </a:rPr>
              <a:t>Fixed timers cannot adjust to seasonal changes in sunrise/sunset or weather-driven darkness.</a:t>
            </a:r>
            <a:endParaRPr lang="en-US" sz="1100" dirty="0"/>
          </a:p>
        </p:txBody>
      </p:sp>
      <p:sp>
        <p:nvSpPr>
          <p:cNvPr id="21" name="Shape 18"/>
          <p:cNvSpPr/>
          <p:nvPr/>
        </p:nvSpPr>
        <p:spPr>
          <a:xfrm>
            <a:off x="6263640" y="4983480"/>
            <a:ext cx="5257800" cy="1417320"/>
          </a:xfrm>
          <a:prstGeom prst="roundRect">
            <a:avLst>
              <a:gd name="adj" fmla="val 5161"/>
            </a:avLst>
          </a:prstGeom>
          <a:solidFill>
            <a:srgbClr val="FFFFFF"/>
          </a:solidFill>
          <a:ln w="12700">
            <a:solidFill>
              <a:srgbClr val="E3E7F1"/>
            </a:solidFill>
            <a:prstDash val="solid"/>
          </a:ln>
        </p:spPr>
      </p:sp>
      <p:sp>
        <p:nvSpPr>
          <p:cNvPr id="22" name="Shape 19"/>
          <p:cNvSpPr/>
          <p:nvPr/>
        </p:nvSpPr>
        <p:spPr>
          <a:xfrm>
            <a:off x="6492240" y="5184648"/>
            <a:ext cx="109728" cy="109728"/>
          </a:xfrm>
          <a:prstGeom prst="roundRect">
            <a:avLst>
              <a:gd name="adj" fmla="val 50000"/>
            </a:avLst>
          </a:prstGeom>
          <a:solidFill>
            <a:srgbClr val="C98F1E"/>
          </a:solidFill>
          <a:ln/>
        </p:spPr>
      </p:sp>
      <p:sp>
        <p:nvSpPr>
          <p:cNvPr id="23" name="Text 20"/>
          <p:cNvSpPr txBox="1"/>
          <p:nvPr/>
        </p:nvSpPr>
        <p:spPr>
          <a:xfrm>
            <a:off x="6720840" y="5120640"/>
            <a:ext cx="461772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High Maintenance Cost</a:t>
            </a:r>
            <a:endParaRPr lang="en-US" sz="1350" dirty="0"/>
          </a:p>
        </p:txBody>
      </p:sp>
      <p:sp>
        <p:nvSpPr>
          <p:cNvPr id="24" name="Text 21"/>
          <p:cNvSpPr txBox="1"/>
          <p:nvPr/>
        </p:nvSpPr>
        <p:spPr>
          <a:xfrm>
            <a:off x="6492240" y="5440680"/>
            <a:ext cx="4800600" cy="868680"/>
          </a:xfrm>
          <a:prstGeom prst="rect">
            <a:avLst/>
          </a:prstGeom>
          <a:noFill/>
          <a:ln/>
        </p:spPr>
        <p:txBody>
          <a:bodyPr wrap="square" lIns="0" tIns="0" rIns="0" bIns="0" rtlCol="0" anchor="ctr"/>
          <a:lstStyle/>
          <a:p>
            <a:pPr marL="0" indent="0">
              <a:lnSpc>
                <a:spcPct val="120000"/>
              </a:lnSpc>
              <a:buNone/>
            </a:pPr>
            <a:r>
              <a:rPr lang="en-US" sz="1100" dirty="0">
                <a:solidFill>
                  <a:srgbClr val="4A5568"/>
                </a:solidFill>
                <a:latin typeface="Calibri" pitchFamily="34" charset="0"/>
                <a:ea typeface="Calibri" pitchFamily="34" charset="-122"/>
                <a:cs typeface="Calibri" pitchFamily="34" charset="-120"/>
              </a:rPr>
              <a:t>Frequent bulb failure from continuous full-brightness operation increases upkeep.</a:t>
            </a:r>
            <a:endParaRPr lang="en-US" sz="1100" dirty="0"/>
          </a:p>
        </p:txBody>
      </p:sp>
      <p:sp>
        <p:nvSpPr>
          <p:cNvPr id="25" name="Text 22"/>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9AA3B8"/>
                </a:solidFill>
                <a:latin typeface="Calibri" pitchFamily="34" charset="0"/>
                <a:ea typeface="Calibri" pitchFamily="34" charset="-122"/>
                <a:cs typeface="Calibri" pitchFamily="34" charset="-120"/>
              </a:rPr>
              <a:t>Automatic Street Light Control System</a:t>
            </a:r>
            <a:endParaRPr lang="en-US" sz="900" dirty="0"/>
          </a:p>
        </p:txBody>
      </p:sp>
      <p:sp>
        <p:nvSpPr>
          <p:cNvPr id="26" name="Text 23"/>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C98F1E"/>
                </a:solidFill>
                <a:latin typeface="Calibri" pitchFamily="34" charset="0"/>
                <a:ea typeface="Calibri" pitchFamily="34" charset="-122"/>
                <a:cs typeface="Calibri" pitchFamily="34" charset="-120"/>
              </a:rPr>
              <a:t>03 · OBJECTIVES</a:t>
            </a:r>
            <a:endParaRPr lang="en-US" sz="1300" dirty="0"/>
          </a:p>
        </p:txBody>
      </p:sp>
      <p:sp>
        <p:nvSpPr>
          <p:cNvPr id="3" name="Text 1"/>
          <p:cNvSpPr txBox="1"/>
          <p:nvPr/>
        </p:nvSpPr>
        <p:spPr>
          <a:xfrm>
            <a:off x="640080" y="713232"/>
            <a:ext cx="7315200" cy="640080"/>
          </a:xfrm>
          <a:prstGeom prst="rect">
            <a:avLst/>
          </a:prstGeom>
          <a:noFill/>
          <a:ln/>
        </p:spPr>
        <p:txBody>
          <a:bodyPr wrap="square" lIns="0" tIns="0" rIns="0" bIns="0" rtlCol="0" anchor="ctr"/>
          <a:lstStyle/>
          <a:p>
            <a:pPr marL="0" indent="0">
              <a:buNone/>
            </a:pPr>
            <a:r>
              <a:rPr lang="en-US" sz="3600" b="1" dirty="0">
                <a:solidFill>
                  <a:srgbClr val="1B2A4A"/>
                </a:solidFill>
                <a:latin typeface="Cambria" pitchFamily="34" charset="0"/>
                <a:ea typeface="Cambria" pitchFamily="34" charset="-122"/>
                <a:cs typeface="Cambria" pitchFamily="34" charset="-120"/>
              </a:rPr>
              <a:t>Objectives</a:t>
            </a:r>
            <a:endParaRPr lang="en-US" sz="3600" dirty="0"/>
          </a:p>
        </p:txBody>
      </p:sp>
      <p:sp>
        <p:nvSpPr>
          <p:cNvPr id="4" name="Text 2"/>
          <p:cNvSpPr txBox="1"/>
          <p:nvPr/>
        </p:nvSpPr>
        <p:spPr>
          <a:xfrm>
            <a:off x="640080" y="1325880"/>
            <a:ext cx="9144000" cy="365760"/>
          </a:xfrm>
          <a:prstGeom prst="rect">
            <a:avLst/>
          </a:prstGeom>
          <a:noFill/>
          <a:ln/>
        </p:spPr>
        <p:txBody>
          <a:bodyPr wrap="square" lIns="0" tIns="0" rIns="0" bIns="0" rtlCol="0" anchor="ctr"/>
          <a:lstStyle/>
          <a:p>
            <a:pPr marL="0" indent="0">
              <a:buNone/>
            </a:pPr>
            <a:r>
              <a:rPr lang="en-US" sz="1350" i="1" dirty="0">
                <a:solidFill>
                  <a:srgbClr val="4A5568"/>
                </a:solidFill>
                <a:latin typeface="Calibri" pitchFamily="34" charset="0"/>
                <a:ea typeface="Calibri" pitchFamily="34" charset="-122"/>
                <a:cs typeface="Calibri" pitchFamily="34" charset="-120"/>
              </a:rPr>
              <a:t>Specific, measurable goals guiding the design and simulation of the system.</a:t>
            </a:r>
            <a:endParaRPr lang="en-US" sz="1350" dirty="0"/>
          </a:p>
        </p:txBody>
      </p:sp>
      <p:sp>
        <p:nvSpPr>
          <p:cNvPr id="5" name="Shape 3"/>
          <p:cNvSpPr/>
          <p:nvPr/>
        </p:nvSpPr>
        <p:spPr>
          <a:xfrm>
            <a:off x="640080" y="1874520"/>
            <a:ext cx="3429000" cy="1965960"/>
          </a:xfrm>
          <a:prstGeom prst="roundRect">
            <a:avLst>
              <a:gd name="adj" fmla="val 4651"/>
            </a:avLst>
          </a:prstGeom>
          <a:solidFill>
            <a:srgbClr val="FFFFFF"/>
          </a:solidFill>
          <a:ln w="12700">
            <a:solidFill>
              <a:srgbClr val="E3E7F1"/>
            </a:solidFill>
            <a:prstDash val="solid"/>
          </a:ln>
          <a:effectLst>
            <a:outerShdw blurRad="76200" dist="25400" dir="5400000" algn="bl" rotWithShape="0">
              <a:srgbClr val="1B2A4A">
                <a:alpha val="10000"/>
              </a:srgbClr>
            </a:outerShdw>
          </a:effectLst>
        </p:spPr>
      </p:sp>
      <p:sp>
        <p:nvSpPr>
          <p:cNvPr id="6" name="Shape 4"/>
          <p:cNvSpPr/>
          <p:nvPr/>
        </p:nvSpPr>
        <p:spPr>
          <a:xfrm>
            <a:off x="868680" y="2103120"/>
            <a:ext cx="594360" cy="594360"/>
          </a:xfrm>
          <a:prstGeom prst="ellipse">
            <a:avLst/>
          </a:prstGeom>
          <a:solidFill>
            <a:srgbClr val="1B2A4A"/>
          </a:solidFill>
          <a:ln/>
        </p:spPr>
      </p:sp>
      <p:pic>
        <p:nvPicPr>
          <p:cNvPr id="7" name="Image 0" descr="/home/claude/streetlight_ppt/icon_task_amber.png"/>
          <p:cNvPicPr>
            <a:picLocks noChangeAspect="1"/>
          </p:cNvPicPr>
          <p:nvPr/>
        </p:nvPicPr>
        <p:blipFill>
          <a:blip r:embed="rId3"/>
          <a:stretch>
            <a:fillRect/>
          </a:stretch>
        </p:blipFill>
        <p:spPr>
          <a:xfrm>
            <a:off x="987552" y="2221992"/>
            <a:ext cx="356616" cy="356616"/>
          </a:xfrm>
          <a:prstGeom prst="rect">
            <a:avLst/>
          </a:prstGeom>
        </p:spPr>
      </p:pic>
      <p:sp>
        <p:nvSpPr>
          <p:cNvPr id="8" name="Text 5"/>
          <p:cNvSpPr txBox="1"/>
          <p:nvPr/>
        </p:nvSpPr>
        <p:spPr>
          <a:xfrm>
            <a:off x="868680" y="2788920"/>
            <a:ext cx="2971800" cy="4114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Automate Light Switching</a:t>
            </a:r>
            <a:endParaRPr lang="en-US" sz="1300" dirty="0"/>
          </a:p>
        </p:txBody>
      </p:sp>
      <p:sp>
        <p:nvSpPr>
          <p:cNvPr id="9" name="Text 6"/>
          <p:cNvSpPr txBox="1"/>
          <p:nvPr/>
        </p:nvSpPr>
        <p:spPr>
          <a:xfrm>
            <a:off x="868680" y="3172968"/>
            <a:ext cx="2971800" cy="59436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Design a circuit that switches street lights ON/OFF automatically based on ambient light intensity.</a:t>
            </a:r>
            <a:endParaRPr lang="en-US" sz="1050" dirty="0"/>
          </a:p>
        </p:txBody>
      </p:sp>
      <p:sp>
        <p:nvSpPr>
          <p:cNvPr id="10" name="Shape 7"/>
          <p:cNvSpPr/>
          <p:nvPr/>
        </p:nvSpPr>
        <p:spPr>
          <a:xfrm>
            <a:off x="4325112" y="1874520"/>
            <a:ext cx="3429000" cy="1965960"/>
          </a:xfrm>
          <a:prstGeom prst="roundRect">
            <a:avLst>
              <a:gd name="adj" fmla="val 4651"/>
            </a:avLst>
          </a:prstGeom>
          <a:solidFill>
            <a:srgbClr val="FFFFFF"/>
          </a:solidFill>
          <a:ln w="12700">
            <a:solidFill>
              <a:srgbClr val="E3E7F1"/>
            </a:solidFill>
            <a:prstDash val="solid"/>
          </a:ln>
          <a:effectLst>
            <a:outerShdw blurRad="76200" dist="25400" dir="5400000" algn="bl" rotWithShape="0">
              <a:srgbClr val="1B2A4A">
                <a:alpha val="10000"/>
              </a:srgbClr>
            </a:outerShdw>
          </a:effectLst>
        </p:spPr>
      </p:sp>
      <p:sp>
        <p:nvSpPr>
          <p:cNvPr id="11" name="Shape 8"/>
          <p:cNvSpPr/>
          <p:nvPr/>
        </p:nvSpPr>
        <p:spPr>
          <a:xfrm>
            <a:off x="4553712" y="2103120"/>
            <a:ext cx="594360" cy="594360"/>
          </a:xfrm>
          <a:prstGeom prst="ellipse">
            <a:avLst/>
          </a:prstGeom>
          <a:solidFill>
            <a:srgbClr val="1B2A4A"/>
          </a:solidFill>
          <a:ln/>
        </p:spPr>
      </p:sp>
      <p:pic>
        <p:nvPicPr>
          <p:cNvPr id="12" name="Image 1" descr="/home/claude/streetlight_ppt/icon_ebolt_amber.png"/>
          <p:cNvPicPr>
            <a:picLocks noChangeAspect="1"/>
          </p:cNvPicPr>
          <p:nvPr/>
        </p:nvPicPr>
        <p:blipFill>
          <a:blip r:embed="rId4"/>
          <a:stretch>
            <a:fillRect/>
          </a:stretch>
        </p:blipFill>
        <p:spPr>
          <a:xfrm>
            <a:off x="4672584" y="2221992"/>
            <a:ext cx="356616" cy="356616"/>
          </a:xfrm>
          <a:prstGeom prst="rect">
            <a:avLst/>
          </a:prstGeom>
        </p:spPr>
      </p:pic>
      <p:sp>
        <p:nvSpPr>
          <p:cNvPr id="13" name="Text 9"/>
          <p:cNvSpPr txBox="1"/>
          <p:nvPr/>
        </p:nvSpPr>
        <p:spPr>
          <a:xfrm>
            <a:off x="4553712" y="2788920"/>
            <a:ext cx="2971800" cy="4114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Reduce Energy Consumption</a:t>
            </a:r>
            <a:endParaRPr lang="en-US" sz="1300" dirty="0"/>
          </a:p>
        </p:txBody>
      </p:sp>
      <p:sp>
        <p:nvSpPr>
          <p:cNvPr id="14" name="Text 10"/>
          <p:cNvSpPr txBox="1"/>
          <p:nvPr/>
        </p:nvSpPr>
        <p:spPr>
          <a:xfrm>
            <a:off x="4553712" y="3172968"/>
            <a:ext cx="2971800" cy="59436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Minimize unnecessary power usage compared to fixed-timer lighting.</a:t>
            </a:r>
            <a:endParaRPr lang="en-US" sz="1050" dirty="0"/>
          </a:p>
        </p:txBody>
      </p:sp>
      <p:sp>
        <p:nvSpPr>
          <p:cNvPr id="15" name="Shape 11"/>
          <p:cNvSpPr/>
          <p:nvPr/>
        </p:nvSpPr>
        <p:spPr>
          <a:xfrm>
            <a:off x="8010144" y="1874520"/>
            <a:ext cx="3429000" cy="1965960"/>
          </a:xfrm>
          <a:prstGeom prst="roundRect">
            <a:avLst>
              <a:gd name="adj" fmla="val 4651"/>
            </a:avLst>
          </a:prstGeom>
          <a:solidFill>
            <a:srgbClr val="FFFFFF"/>
          </a:solidFill>
          <a:ln w="12700">
            <a:solidFill>
              <a:srgbClr val="E3E7F1"/>
            </a:solidFill>
            <a:prstDash val="solid"/>
          </a:ln>
          <a:effectLst>
            <a:outerShdw blurRad="76200" dist="25400" dir="5400000" algn="bl" rotWithShape="0">
              <a:srgbClr val="1B2A4A">
                <a:alpha val="10000"/>
              </a:srgbClr>
            </a:outerShdw>
          </a:effectLst>
        </p:spPr>
      </p:sp>
      <p:sp>
        <p:nvSpPr>
          <p:cNvPr id="16" name="Shape 12"/>
          <p:cNvSpPr/>
          <p:nvPr/>
        </p:nvSpPr>
        <p:spPr>
          <a:xfrm>
            <a:off x="8238744" y="2103120"/>
            <a:ext cx="594360" cy="594360"/>
          </a:xfrm>
          <a:prstGeom prst="ellipse">
            <a:avLst/>
          </a:prstGeom>
          <a:solidFill>
            <a:srgbClr val="1B2A4A"/>
          </a:solidFill>
          <a:ln/>
        </p:spPr>
      </p:sp>
      <p:pic>
        <p:nvPicPr>
          <p:cNvPr id="17" name="Image 2" descr="/home/claude/streetlight_ppt/icon_sensor_amber.png"/>
          <p:cNvPicPr>
            <a:picLocks noChangeAspect="1"/>
          </p:cNvPicPr>
          <p:nvPr/>
        </p:nvPicPr>
        <p:blipFill>
          <a:blip r:embed="rId5"/>
          <a:stretch>
            <a:fillRect/>
          </a:stretch>
        </p:blipFill>
        <p:spPr>
          <a:xfrm>
            <a:off x="8357616" y="2221992"/>
            <a:ext cx="356616" cy="356616"/>
          </a:xfrm>
          <a:prstGeom prst="rect">
            <a:avLst/>
          </a:prstGeom>
        </p:spPr>
      </p:pic>
      <p:sp>
        <p:nvSpPr>
          <p:cNvPr id="18" name="Text 13"/>
          <p:cNvSpPr txBox="1"/>
          <p:nvPr/>
        </p:nvSpPr>
        <p:spPr>
          <a:xfrm>
            <a:off x="8238744" y="2788920"/>
            <a:ext cx="2971800" cy="4114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Sensor-Based Detection</a:t>
            </a:r>
            <a:endParaRPr lang="en-US" sz="1300" dirty="0"/>
          </a:p>
        </p:txBody>
      </p:sp>
      <p:sp>
        <p:nvSpPr>
          <p:cNvPr id="19" name="Text 14"/>
          <p:cNvSpPr txBox="1"/>
          <p:nvPr/>
        </p:nvSpPr>
        <p:spPr>
          <a:xfrm>
            <a:off x="8238744" y="3172968"/>
            <a:ext cx="2971800" cy="59436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Use a Light Dependent Resistor (LDR) to accurately sense day/night transitions.</a:t>
            </a:r>
            <a:endParaRPr lang="en-US" sz="1050" dirty="0"/>
          </a:p>
        </p:txBody>
      </p:sp>
      <p:sp>
        <p:nvSpPr>
          <p:cNvPr id="20" name="Shape 15"/>
          <p:cNvSpPr/>
          <p:nvPr/>
        </p:nvSpPr>
        <p:spPr>
          <a:xfrm>
            <a:off x="640080" y="4114800"/>
            <a:ext cx="3429000" cy="1965960"/>
          </a:xfrm>
          <a:prstGeom prst="roundRect">
            <a:avLst>
              <a:gd name="adj" fmla="val 4651"/>
            </a:avLst>
          </a:prstGeom>
          <a:solidFill>
            <a:srgbClr val="FFFFFF"/>
          </a:solidFill>
          <a:ln w="12700">
            <a:solidFill>
              <a:srgbClr val="E3E7F1"/>
            </a:solidFill>
            <a:prstDash val="solid"/>
          </a:ln>
          <a:effectLst>
            <a:outerShdw blurRad="76200" dist="25400" dir="5400000" algn="bl" rotWithShape="0">
              <a:srgbClr val="1B2A4A">
                <a:alpha val="10000"/>
              </a:srgbClr>
            </a:outerShdw>
          </a:effectLst>
        </p:spPr>
      </p:sp>
      <p:sp>
        <p:nvSpPr>
          <p:cNvPr id="21" name="Shape 16"/>
          <p:cNvSpPr/>
          <p:nvPr/>
        </p:nvSpPr>
        <p:spPr>
          <a:xfrm>
            <a:off x="868680" y="4343400"/>
            <a:ext cx="594360" cy="594360"/>
          </a:xfrm>
          <a:prstGeom prst="ellipse">
            <a:avLst/>
          </a:prstGeom>
          <a:solidFill>
            <a:srgbClr val="1B2A4A"/>
          </a:solidFill>
          <a:ln/>
        </p:spPr>
      </p:sp>
      <p:pic>
        <p:nvPicPr>
          <p:cNvPr id="22" name="Image 3" descr="/home/claude/streetlight_ppt/icon_chip_amber.png"/>
          <p:cNvPicPr>
            <a:picLocks noChangeAspect="1"/>
          </p:cNvPicPr>
          <p:nvPr/>
        </p:nvPicPr>
        <p:blipFill>
          <a:blip r:embed="rId6"/>
          <a:stretch>
            <a:fillRect/>
          </a:stretch>
        </p:blipFill>
        <p:spPr>
          <a:xfrm>
            <a:off x="987552" y="4462272"/>
            <a:ext cx="356616" cy="356616"/>
          </a:xfrm>
          <a:prstGeom prst="rect">
            <a:avLst/>
          </a:prstGeom>
        </p:spPr>
      </p:pic>
      <p:sp>
        <p:nvSpPr>
          <p:cNvPr id="23" name="Text 17"/>
          <p:cNvSpPr txBox="1"/>
          <p:nvPr/>
        </p:nvSpPr>
        <p:spPr>
          <a:xfrm>
            <a:off x="868680" y="5029200"/>
            <a:ext cx="2971800" cy="4114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Microcontroller Control Logic</a:t>
            </a:r>
            <a:endParaRPr lang="en-US" sz="1300" dirty="0"/>
          </a:p>
        </p:txBody>
      </p:sp>
      <p:sp>
        <p:nvSpPr>
          <p:cNvPr id="24" name="Text 18"/>
          <p:cNvSpPr txBox="1"/>
          <p:nvPr/>
        </p:nvSpPr>
        <p:spPr>
          <a:xfrm>
            <a:off x="868680" y="5413248"/>
            <a:ext cx="2971800" cy="59436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Implement decision logic on a microcontroller for reliable, programmable switching.</a:t>
            </a:r>
            <a:endParaRPr lang="en-US" sz="1050" dirty="0"/>
          </a:p>
        </p:txBody>
      </p:sp>
      <p:sp>
        <p:nvSpPr>
          <p:cNvPr id="25" name="Shape 19"/>
          <p:cNvSpPr/>
          <p:nvPr/>
        </p:nvSpPr>
        <p:spPr>
          <a:xfrm>
            <a:off x="4325112" y="4114800"/>
            <a:ext cx="3429000" cy="1965960"/>
          </a:xfrm>
          <a:prstGeom prst="roundRect">
            <a:avLst>
              <a:gd name="adj" fmla="val 4651"/>
            </a:avLst>
          </a:prstGeom>
          <a:solidFill>
            <a:srgbClr val="FFFFFF"/>
          </a:solidFill>
          <a:ln w="12700">
            <a:solidFill>
              <a:srgbClr val="E3E7F1"/>
            </a:solidFill>
            <a:prstDash val="solid"/>
          </a:ln>
          <a:effectLst>
            <a:outerShdw blurRad="76200" dist="25400" dir="5400000" algn="bl" rotWithShape="0">
              <a:srgbClr val="1B2A4A">
                <a:alpha val="10000"/>
              </a:srgbClr>
            </a:outerShdw>
          </a:effectLst>
        </p:spPr>
      </p:sp>
      <p:sp>
        <p:nvSpPr>
          <p:cNvPr id="26" name="Shape 20"/>
          <p:cNvSpPr/>
          <p:nvPr/>
        </p:nvSpPr>
        <p:spPr>
          <a:xfrm>
            <a:off x="4553712" y="4343400"/>
            <a:ext cx="594360" cy="594360"/>
          </a:xfrm>
          <a:prstGeom prst="ellipse">
            <a:avLst/>
          </a:prstGeom>
          <a:solidFill>
            <a:srgbClr val="1B2A4A"/>
          </a:solidFill>
          <a:ln/>
        </p:spPr>
      </p:sp>
      <p:pic>
        <p:nvPicPr>
          <p:cNvPr id="27" name="Image 4" descr="/home/claude/streetlight_ppt/icon_radar_amber.png"/>
          <p:cNvPicPr>
            <a:picLocks noChangeAspect="1"/>
          </p:cNvPicPr>
          <p:nvPr/>
        </p:nvPicPr>
        <p:blipFill>
          <a:blip r:embed="rId7"/>
          <a:stretch>
            <a:fillRect/>
          </a:stretch>
        </p:blipFill>
        <p:spPr>
          <a:xfrm>
            <a:off x="4672584" y="4462272"/>
            <a:ext cx="356616" cy="356616"/>
          </a:xfrm>
          <a:prstGeom prst="rect">
            <a:avLst/>
          </a:prstGeom>
        </p:spPr>
      </p:pic>
      <p:sp>
        <p:nvSpPr>
          <p:cNvPr id="28" name="Text 21"/>
          <p:cNvSpPr txBox="1"/>
          <p:nvPr/>
        </p:nvSpPr>
        <p:spPr>
          <a:xfrm>
            <a:off x="4553712" y="5029200"/>
            <a:ext cx="2971800" cy="4114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Simulate &amp; Validate</a:t>
            </a:r>
            <a:endParaRPr lang="en-US" sz="1300" dirty="0"/>
          </a:p>
        </p:txBody>
      </p:sp>
      <p:sp>
        <p:nvSpPr>
          <p:cNvPr id="29" name="Text 22"/>
          <p:cNvSpPr txBox="1"/>
          <p:nvPr/>
        </p:nvSpPr>
        <p:spPr>
          <a:xfrm>
            <a:off x="4553712" y="5413248"/>
            <a:ext cx="2971800" cy="59436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Simulate the circuit to verify correct switching behaviour before hardware deployment.</a:t>
            </a:r>
            <a:endParaRPr lang="en-US" sz="1050" dirty="0"/>
          </a:p>
        </p:txBody>
      </p:sp>
      <p:sp>
        <p:nvSpPr>
          <p:cNvPr id="30" name="Shape 23"/>
          <p:cNvSpPr/>
          <p:nvPr/>
        </p:nvSpPr>
        <p:spPr>
          <a:xfrm>
            <a:off x="8010144" y="4114800"/>
            <a:ext cx="3429000" cy="1965960"/>
          </a:xfrm>
          <a:prstGeom prst="roundRect">
            <a:avLst>
              <a:gd name="adj" fmla="val 4651"/>
            </a:avLst>
          </a:prstGeom>
          <a:solidFill>
            <a:srgbClr val="FFFFFF"/>
          </a:solidFill>
          <a:ln w="12700">
            <a:solidFill>
              <a:srgbClr val="E3E7F1"/>
            </a:solidFill>
            <a:prstDash val="solid"/>
          </a:ln>
          <a:effectLst>
            <a:outerShdw blurRad="76200" dist="25400" dir="5400000" algn="bl" rotWithShape="0">
              <a:srgbClr val="1B2A4A">
                <a:alpha val="10000"/>
              </a:srgbClr>
            </a:outerShdw>
          </a:effectLst>
        </p:spPr>
      </p:sp>
      <p:sp>
        <p:nvSpPr>
          <p:cNvPr id="31" name="Shape 24"/>
          <p:cNvSpPr/>
          <p:nvPr/>
        </p:nvSpPr>
        <p:spPr>
          <a:xfrm>
            <a:off x="8238744" y="4343400"/>
            <a:ext cx="594360" cy="594360"/>
          </a:xfrm>
          <a:prstGeom prst="ellipse">
            <a:avLst/>
          </a:prstGeom>
          <a:solidFill>
            <a:srgbClr val="1B2A4A"/>
          </a:solidFill>
          <a:ln/>
        </p:spPr>
      </p:sp>
      <p:pic>
        <p:nvPicPr>
          <p:cNvPr id="32" name="Image 5" descr="/home/claude/streetlight_ppt/icon_chart_amber.png"/>
          <p:cNvPicPr>
            <a:picLocks noChangeAspect="1"/>
          </p:cNvPicPr>
          <p:nvPr/>
        </p:nvPicPr>
        <p:blipFill>
          <a:blip r:embed="rId8"/>
          <a:stretch>
            <a:fillRect/>
          </a:stretch>
        </p:blipFill>
        <p:spPr>
          <a:xfrm>
            <a:off x="8357616" y="4462272"/>
            <a:ext cx="356616" cy="356616"/>
          </a:xfrm>
          <a:prstGeom prst="rect">
            <a:avLst/>
          </a:prstGeom>
        </p:spPr>
      </p:pic>
      <p:sp>
        <p:nvSpPr>
          <p:cNvPr id="33" name="Text 25"/>
          <p:cNvSpPr txBox="1"/>
          <p:nvPr/>
        </p:nvSpPr>
        <p:spPr>
          <a:xfrm>
            <a:off x="8238744" y="5029200"/>
            <a:ext cx="2971800" cy="4114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Analyze Performance</a:t>
            </a:r>
            <a:endParaRPr lang="en-US" sz="1300" dirty="0"/>
          </a:p>
        </p:txBody>
      </p:sp>
      <p:sp>
        <p:nvSpPr>
          <p:cNvPr id="34" name="Text 26"/>
          <p:cNvSpPr txBox="1"/>
          <p:nvPr/>
        </p:nvSpPr>
        <p:spPr>
          <a:xfrm>
            <a:off x="8238744" y="5413248"/>
            <a:ext cx="2971800" cy="594360"/>
          </a:xfrm>
          <a:prstGeom prst="rect">
            <a:avLst/>
          </a:prstGeom>
          <a:noFill/>
          <a:ln/>
        </p:spPr>
        <p:txBody>
          <a:bodyPr wrap="square" lIns="0" tIns="0" rIns="0" bIns="0" rtlCol="0" anchor="ctr"/>
          <a:lstStyle/>
          <a:p>
            <a:pPr marL="0" indent="0">
              <a:lnSpc>
                <a:spcPct val="115000"/>
              </a:lnSpc>
              <a:buNone/>
            </a:pPr>
            <a:r>
              <a:rPr lang="en-US" sz="1050" dirty="0">
                <a:solidFill>
                  <a:srgbClr val="4A5568"/>
                </a:solidFill>
                <a:latin typeface="Calibri" pitchFamily="34" charset="0"/>
                <a:ea typeface="Calibri" pitchFamily="34" charset="-122"/>
                <a:cs typeface="Calibri" pitchFamily="34" charset="-120"/>
              </a:rPr>
              <a:t>Evaluate output results, response time, and potential energy savings.</a:t>
            </a:r>
            <a:endParaRPr lang="en-US" sz="1050" dirty="0"/>
          </a:p>
        </p:txBody>
      </p:sp>
      <p:sp>
        <p:nvSpPr>
          <p:cNvPr id="35" name="Text 27"/>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9AA3B8"/>
                </a:solidFill>
                <a:latin typeface="Calibri" pitchFamily="34" charset="0"/>
                <a:ea typeface="Calibri" pitchFamily="34" charset="-122"/>
                <a:cs typeface="Calibri" pitchFamily="34" charset="-120"/>
              </a:rPr>
              <a:t>Automatic Street Light Control System</a:t>
            </a:r>
            <a:endParaRPr lang="en-US" sz="900" dirty="0"/>
          </a:p>
        </p:txBody>
      </p:sp>
      <p:sp>
        <p:nvSpPr>
          <p:cNvPr id="36" name="Text 28"/>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C98F1E"/>
                </a:solidFill>
                <a:latin typeface="Calibri" pitchFamily="34" charset="0"/>
                <a:ea typeface="Calibri" pitchFamily="34" charset="-122"/>
                <a:cs typeface="Calibri" pitchFamily="34" charset="-120"/>
              </a:rPr>
              <a:t>04 · LITERATURE SURVEY</a:t>
            </a:r>
            <a:endParaRPr lang="en-US" sz="1300" dirty="0"/>
          </a:p>
        </p:txBody>
      </p:sp>
      <p:sp>
        <p:nvSpPr>
          <p:cNvPr id="3" name="Text 1"/>
          <p:cNvSpPr txBox="1"/>
          <p:nvPr/>
        </p:nvSpPr>
        <p:spPr>
          <a:xfrm>
            <a:off x="640080" y="713232"/>
            <a:ext cx="10058400" cy="6400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Literature Survey / Existing System</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3657600"/>
        </p:xfrm>
        <a:graphic>
          <a:graphicData uri="http://schemas.openxmlformats.org/drawingml/2006/table">
            <a:tbl>
              <a:tblPr/>
              <a:tblGrid>
                <a:gridCol w="26517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Limitation</a:t>
                      </a:r>
                      <a:endParaRPr lang="en-US" sz="12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77240">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Timer-Based Switching</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Lights turn ON/OFF at fixed pre-set clock times each day.</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lgn="l">
                        <a:buNone/>
                      </a:pPr>
                      <a:r>
                        <a:rPr lang="en-US" sz="1150" dirty="0">
                          <a:solidFill>
                            <a:srgbClr val="8A2E2E"/>
                          </a:solidFill>
                          <a:latin typeface="Calibri" pitchFamily="34" charset="0"/>
                          <a:ea typeface="Calibri" pitchFamily="34" charset="-122"/>
                          <a:cs typeface="Calibri" pitchFamily="34" charset="-120"/>
                        </a:rPr>
                        <a:t>Cannot adapt to seasonal or weather-based daylight changes.</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Manual Grid Switching</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Utility staff manually operate switches at substations.</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tc>
                  <a:txBody>
                    <a:bodyPr/>
                    <a:lstStyle/>
                    <a:p>
                      <a:pPr marL="0" indent="0" algn="l">
                        <a:buNone/>
                      </a:pPr>
                      <a:r>
                        <a:rPr lang="en-US" sz="1150" dirty="0">
                          <a:solidFill>
                            <a:srgbClr val="8A2E2E"/>
                          </a:solidFill>
                          <a:latin typeface="Calibri" pitchFamily="34" charset="0"/>
                          <a:ea typeface="Calibri" pitchFamily="34" charset="-122"/>
                          <a:cs typeface="Calibri" pitchFamily="34" charset="-120"/>
                        </a:rPr>
                        <a:t>Labour-intensive, slow response, human error.</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extLst>
                  <a:ext uri="{0D108BD9-81ED-4DB2-BD59-A6C34878D82A}">
                    <a16:rowId xmlns:a16="http://schemas.microsoft.com/office/drawing/2014/main" val="10002"/>
                  </a:ext>
                </a:extLst>
              </a:tr>
              <a:tr h="777240">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Photocell Relay Systems</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A photoresistor relay toggles power at a fixed light threshold.</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lgn="l">
                        <a:buNone/>
                      </a:pPr>
                      <a:r>
                        <a:rPr lang="en-US" sz="1150" dirty="0">
                          <a:solidFill>
                            <a:srgbClr val="8A2E2E"/>
                          </a:solidFill>
                          <a:latin typeface="Calibri" pitchFamily="34" charset="0"/>
                          <a:ea typeface="Calibri" pitchFamily="34" charset="-122"/>
                          <a:cs typeface="Calibri" pitchFamily="34" charset="-120"/>
                        </a:rPr>
                        <a:t>No intelligence, dimming, or fault reporting; single fixed threshold.</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Basic LDR + Relay Circuits</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tc>
                  <a:txBody>
                    <a:bodyPr/>
                    <a:lstStyle/>
                    <a:p>
                      <a:pPr marL="0" indent="0" algn="l">
                        <a:buNone/>
                      </a:pPr>
                      <a:r>
                        <a:rPr lang="en-US" sz="1150" dirty="0">
                          <a:solidFill>
                            <a:srgbClr val="1B2A4A"/>
                          </a:solidFill>
                          <a:latin typeface="Calibri" pitchFamily="34" charset="0"/>
                          <a:ea typeface="Calibri" pitchFamily="34" charset="-122"/>
                          <a:cs typeface="Calibri" pitchFamily="34" charset="-120"/>
                        </a:rPr>
                        <a:t>Analog LDR circuit directly drives a relay to switch the lamp.</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tc>
                  <a:txBody>
                    <a:bodyPr/>
                    <a:lstStyle/>
                    <a:p>
                      <a:pPr marL="0" indent="0" algn="l">
                        <a:buNone/>
                      </a:pPr>
                      <a:r>
                        <a:rPr lang="en-US" sz="1150" dirty="0">
                          <a:solidFill>
                            <a:srgbClr val="8A2E2E"/>
                          </a:solidFill>
                          <a:latin typeface="Calibri" pitchFamily="34" charset="0"/>
                          <a:ea typeface="Calibri" pitchFamily="34" charset="-122"/>
                          <a:cs typeface="Calibri" pitchFamily="34" charset="-120"/>
                        </a:rPr>
                        <a:t>No microcontroller logic, no scheduling flexibility, prone to false triggers from noise.</a:t>
                      </a:r>
                      <a:endParaRPr lang="en-US" sz="1150" dirty="0">
                        <a:latin typeface="Calibri" charset="0"/>
                        <a:ea typeface="Calibri" charset="0"/>
                        <a:cs typeface="Calibri" charset="0"/>
                      </a:endParaRPr>
                    </a:p>
                  </a:txBody>
                  <a:tcPr marL="128016" marR="128016" marT="73152" marB="73152"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extLst>
                  <a:ext uri="{0D108BD9-81ED-4DB2-BD59-A6C34878D82A}">
                    <a16:rowId xmlns:a16="http://schemas.microsoft.com/office/drawing/2014/main" val="10004"/>
                  </a:ext>
                </a:extLst>
              </a:tr>
            </a:tbl>
          </a:graphicData>
        </a:graphic>
      </p:graphicFrame>
      <p:sp>
        <p:nvSpPr>
          <p:cNvPr id="5" name="Shape 2"/>
          <p:cNvSpPr/>
          <p:nvPr/>
        </p:nvSpPr>
        <p:spPr>
          <a:xfrm>
            <a:off x="640080" y="5806440"/>
            <a:ext cx="10881360" cy="594360"/>
          </a:xfrm>
          <a:prstGeom prst="roundRect">
            <a:avLst>
              <a:gd name="adj" fmla="val 12308"/>
            </a:avLst>
          </a:prstGeom>
          <a:solidFill>
            <a:srgbClr val="FFF4DD"/>
          </a:solidFill>
          <a:ln w="12700">
            <a:solidFill>
              <a:srgbClr val="F4B942"/>
            </a:solidFill>
            <a:prstDash val="solid"/>
          </a:ln>
        </p:spPr>
      </p:sp>
      <p:sp>
        <p:nvSpPr>
          <p:cNvPr id="4" name="Text 3"/>
          <p:cNvSpPr txBox="1"/>
          <p:nvPr/>
        </p:nvSpPr>
        <p:spPr>
          <a:xfrm>
            <a:off x="868680" y="5806440"/>
            <a:ext cx="10424160" cy="594360"/>
          </a:xfrm>
          <a:prstGeom prst="rect">
            <a:avLst/>
          </a:prstGeom>
          <a:noFill/>
          <a:ln/>
        </p:spPr>
        <p:txBody>
          <a:bodyPr wrap="square" lIns="0" tIns="0" rIns="0" bIns="0" rtlCol="0" anchor="ctr"/>
          <a:lstStyle/>
          <a:p>
            <a:pPr marL="0" indent="0">
              <a:buNone/>
            </a:pPr>
            <a:r>
              <a:rPr lang="en-US" sz="1150" b="1" i="1" dirty="0">
                <a:solidFill>
                  <a:srgbClr val="C98F1E"/>
                </a:solidFill>
                <a:latin typeface="Calibri" pitchFamily="34" charset="0"/>
                <a:ea typeface="Calibri" pitchFamily="34" charset="-122"/>
                <a:cs typeface="Calibri" pitchFamily="34" charset="-120"/>
              </a:rPr>
              <a:t>Gap identified: Existing solutions lack sensor + microcontroller integration with simulated validation — the motivation for the proposed system.</a:t>
            </a:r>
            <a:endParaRPr lang="en-US" sz="1150" dirty="0"/>
          </a:p>
        </p:txBody>
      </p:sp>
      <p:sp>
        <p:nvSpPr>
          <p:cNvPr id="7" name="Text 4"/>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9AA3B8"/>
                </a:solidFill>
                <a:latin typeface="Calibri" pitchFamily="34" charset="0"/>
                <a:ea typeface="Calibri" pitchFamily="34" charset="-122"/>
                <a:cs typeface="Calibri" pitchFamily="34" charset="-120"/>
              </a:rPr>
              <a:t>Automatic Street Light Control System</a:t>
            </a:r>
            <a:endParaRPr lang="en-US" sz="900" dirty="0"/>
          </a:p>
        </p:txBody>
      </p:sp>
      <p:sp>
        <p:nvSpPr>
          <p:cNvPr id="8" name="Text 5"/>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C98F1E"/>
                </a:solidFill>
                <a:latin typeface="Calibri" pitchFamily="34" charset="0"/>
                <a:ea typeface="Calibri" pitchFamily="34" charset="-122"/>
                <a:cs typeface="Calibri" pitchFamily="34" charset="-120"/>
              </a:rPr>
              <a:t>05 · PROPOSED SYSTEM</a:t>
            </a:r>
            <a:endParaRPr lang="en-US" sz="1300" dirty="0"/>
          </a:p>
        </p:txBody>
      </p:sp>
      <p:sp>
        <p:nvSpPr>
          <p:cNvPr id="3" name="Text 1"/>
          <p:cNvSpPr txBox="1"/>
          <p:nvPr/>
        </p:nvSpPr>
        <p:spPr>
          <a:xfrm>
            <a:off x="640080" y="713232"/>
            <a:ext cx="8229600" cy="640080"/>
          </a:xfrm>
          <a:prstGeom prst="rect">
            <a:avLst/>
          </a:prstGeom>
          <a:noFill/>
          <a:ln/>
        </p:spPr>
        <p:txBody>
          <a:bodyPr wrap="square" lIns="0" tIns="0" rIns="0" bIns="0" rtlCol="0" anchor="ctr"/>
          <a:lstStyle/>
          <a:p>
            <a:pPr marL="0" indent="0">
              <a:buNone/>
            </a:pPr>
            <a:r>
              <a:rPr lang="en-US" sz="3600" b="1" dirty="0">
                <a:solidFill>
                  <a:srgbClr val="1B2A4A"/>
                </a:solidFill>
                <a:latin typeface="Cambria" pitchFamily="34" charset="0"/>
                <a:ea typeface="Cambria" pitchFamily="34" charset="-122"/>
                <a:cs typeface="Cambria" pitchFamily="34" charset="-120"/>
              </a:rPr>
              <a:t>Proposed System</a:t>
            </a:r>
            <a:endParaRPr lang="en-US" sz="3600" dirty="0"/>
          </a:p>
        </p:txBody>
      </p:sp>
      <p:sp>
        <p:nvSpPr>
          <p:cNvPr id="4" name="Text 2"/>
          <p:cNvSpPr txBox="1"/>
          <p:nvPr/>
        </p:nvSpPr>
        <p:spPr>
          <a:xfrm>
            <a:off x="640080" y="1417320"/>
            <a:ext cx="10881360" cy="685800"/>
          </a:xfrm>
          <a:prstGeom prst="rect">
            <a:avLst/>
          </a:prstGeom>
          <a:noFill/>
          <a:ln/>
        </p:spPr>
        <p:txBody>
          <a:bodyPr wrap="square" lIns="0" tIns="0" rIns="0" bIns="0" rtlCol="0" anchor="ctr"/>
          <a:lstStyle/>
          <a:p>
            <a:pPr marL="0" indent="0">
              <a:lnSpc>
                <a:spcPct val="125000"/>
              </a:lnSpc>
              <a:buNone/>
            </a:pPr>
            <a:r>
              <a:rPr lang="en-US" sz="1350" dirty="0">
                <a:solidFill>
                  <a:srgbClr val="4A5568"/>
                </a:solidFill>
                <a:latin typeface="Calibri" pitchFamily="34" charset="0"/>
                <a:ea typeface="Calibri" pitchFamily="34" charset="-122"/>
                <a:cs typeface="Calibri" pitchFamily="34" charset="-120"/>
              </a:rPr>
              <a:t>The proposed system integrates an LDR sensor with a microcontroller-based control unit to automatically drive the street light through a relay/driver stage — enabling intelligent, threshold-based, and (optionally) dimmable operation.</a:t>
            </a:r>
            <a:endParaRPr lang="en-US" sz="1350" dirty="0"/>
          </a:p>
        </p:txBody>
      </p:sp>
      <p:sp>
        <p:nvSpPr>
          <p:cNvPr id="5" name="Shape 3"/>
          <p:cNvSpPr/>
          <p:nvPr/>
        </p:nvSpPr>
        <p:spPr>
          <a:xfrm>
            <a:off x="640080" y="2331720"/>
            <a:ext cx="502920" cy="502920"/>
          </a:xfrm>
          <a:prstGeom prst="ellipse">
            <a:avLst/>
          </a:prstGeom>
          <a:solidFill>
            <a:srgbClr val="1B2A4A"/>
          </a:solidFill>
          <a:ln/>
        </p:spPr>
      </p:sp>
      <p:pic>
        <p:nvPicPr>
          <p:cNvPr id="6" name="Image 0" descr="/home/claude/streetlight_ppt/icon_sensor_amber.png"/>
          <p:cNvPicPr>
            <a:picLocks noChangeAspect="1"/>
          </p:cNvPicPr>
          <p:nvPr/>
        </p:nvPicPr>
        <p:blipFill>
          <a:blip r:embed="rId3"/>
          <a:stretch>
            <a:fillRect/>
          </a:stretch>
        </p:blipFill>
        <p:spPr>
          <a:xfrm>
            <a:off x="745236" y="2436876"/>
            <a:ext cx="292608" cy="292608"/>
          </a:xfrm>
          <a:prstGeom prst="rect">
            <a:avLst/>
          </a:prstGeom>
        </p:spPr>
      </p:pic>
      <p:sp>
        <p:nvSpPr>
          <p:cNvPr id="7" name="Text 4"/>
          <p:cNvSpPr txBox="1"/>
          <p:nvPr/>
        </p:nvSpPr>
        <p:spPr>
          <a:xfrm>
            <a:off x="1280160" y="2304288"/>
            <a:ext cx="461772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Real-Time Light Sensing</a:t>
            </a:r>
            <a:endParaRPr lang="en-US" sz="1250" dirty="0"/>
          </a:p>
        </p:txBody>
      </p:sp>
      <p:sp>
        <p:nvSpPr>
          <p:cNvPr id="8" name="Text 5"/>
          <p:cNvSpPr txBox="1"/>
          <p:nvPr/>
        </p:nvSpPr>
        <p:spPr>
          <a:xfrm>
            <a:off x="1280160" y="2587752"/>
            <a:ext cx="4617720" cy="457200"/>
          </a:xfrm>
          <a:prstGeom prst="rect">
            <a:avLst/>
          </a:prstGeom>
          <a:noFill/>
          <a:ln/>
        </p:spPr>
        <p:txBody>
          <a:bodyPr wrap="square" lIns="0" tIns="0" rIns="0" bIns="0" rtlCol="0" anchor="ctr"/>
          <a:lstStyle/>
          <a:p>
            <a:pPr marL="0" indent="0">
              <a:lnSpc>
                <a:spcPct val="110000"/>
              </a:lnSpc>
              <a:buNone/>
            </a:pPr>
            <a:r>
              <a:rPr lang="en-US" sz="1050" dirty="0">
                <a:solidFill>
                  <a:srgbClr val="4A5568"/>
                </a:solidFill>
                <a:latin typeface="Calibri" pitchFamily="34" charset="0"/>
                <a:ea typeface="Calibri" pitchFamily="34" charset="-122"/>
                <a:cs typeface="Calibri" pitchFamily="34" charset="-120"/>
              </a:rPr>
              <a:t>LDR continuously monitors ambient light and feeds analog data to the controller.</a:t>
            </a:r>
            <a:endParaRPr lang="en-US" sz="1050" dirty="0"/>
          </a:p>
        </p:txBody>
      </p:sp>
      <p:sp>
        <p:nvSpPr>
          <p:cNvPr id="9" name="Shape 6"/>
          <p:cNvSpPr/>
          <p:nvPr/>
        </p:nvSpPr>
        <p:spPr>
          <a:xfrm>
            <a:off x="6172200" y="2331720"/>
            <a:ext cx="502920" cy="502920"/>
          </a:xfrm>
          <a:prstGeom prst="ellipse">
            <a:avLst/>
          </a:prstGeom>
          <a:solidFill>
            <a:srgbClr val="1B2A4A"/>
          </a:solidFill>
          <a:ln/>
        </p:spPr>
      </p:sp>
      <p:pic>
        <p:nvPicPr>
          <p:cNvPr id="10" name="Image 1" descr="/home/claude/streetlight_ppt/icon_chip_amber.png"/>
          <p:cNvPicPr>
            <a:picLocks noChangeAspect="1"/>
          </p:cNvPicPr>
          <p:nvPr/>
        </p:nvPicPr>
        <p:blipFill>
          <a:blip r:embed="rId4"/>
          <a:stretch>
            <a:fillRect/>
          </a:stretch>
        </p:blipFill>
        <p:spPr>
          <a:xfrm>
            <a:off x="6277356" y="2436876"/>
            <a:ext cx="292608" cy="292608"/>
          </a:xfrm>
          <a:prstGeom prst="rect">
            <a:avLst/>
          </a:prstGeom>
        </p:spPr>
      </p:pic>
      <p:sp>
        <p:nvSpPr>
          <p:cNvPr id="11" name="Text 7"/>
          <p:cNvSpPr txBox="1"/>
          <p:nvPr/>
        </p:nvSpPr>
        <p:spPr>
          <a:xfrm>
            <a:off x="6812280" y="2304288"/>
            <a:ext cx="461772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Microcontroller Decision Logic</a:t>
            </a:r>
            <a:endParaRPr lang="en-US" sz="1250" dirty="0"/>
          </a:p>
        </p:txBody>
      </p:sp>
      <p:sp>
        <p:nvSpPr>
          <p:cNvPr id="12" name="Text 8"/>
          <p:cNvSpPr txBox="1"/>
          <p:nvPr/>
        </p:nvSpPr>
        <p:spPr>
          <a:xfrm>
            <a:off x="6812280" y="2587752"/>
            <a:ext cx="4617720" cy="457200"/>
          </a:xfrm>
          <a:prstGeom prst="rect">
            <a:avLst/>
          </a:prstGeom>
          <a:noFill/>
          <a:ln/>
        </p:spPr>
        <p:txBody>
          <a:bodyPr wrap="square" lIns="0" tIns="0" rIns="0" bIns="0" rtlCol="0" anchor="ctr"/>
          <a:lstStyle/>
          <a:p>
            <a:pPr marL="0" indent="0">
              <a:lnSpc>
                <a:spcPct val="110000"/>
              </a:lnSpc>
              <a:buNone/>
            </a:pPr>
            <a:r>
              <a:rPr lang="en-US" sz="1050" dirty="0">
                <a:solidFill>
                  <a:srgbClr val="4A5568"/>
                </a:solidFill>
                <a:latin typeface="Calibri" pitchFamily="34" charset="0"/>
                <a:ea typeface="Calibri" pitchFamily="34" charset="-122"/>
                <a:cs typeface="Calibri" pitchFamily="34" charset="-120"/>
              </a:rPr>
              <a:t>Programmable threshold comparison replaces rigid, fixed-timer switching.</a:t>
            </a:r>
            <a:endParaRPr lang="en-US" sz="1050" dirty="0"/>
          </a:p>
        </p:txBody>
      </p:sp>
      <p:sp>
        <p:nvSpPr>
          <p:cNvPr id="13" name="Shape 9"/>
          <p:cNvSpPr/>
          <p:nvPr/>
        </p:nvSpPr>
        <p:spPr>
          <a:xfrm>
            <a:off x="640080" y="3154680"/>
            <a:ext cx="502920" cy="502920"/>
          </a:xfrm>
          <a:prstGeom prst="ellipse">
            <a:avLst/>
          </a:prstGeom>
          <a:solidFill>
            <a:srgbClr val="1B2A4A"/>
          </a:solidFill>
          <a:ln/>
        </p:spPr>
      </p:sp>
      <p:pic>
        <p:nvPicPr>
          <p:cNvPr id="14" name="Image 2" descr="/home/claude/streetlight_ppt/icon_ebolt_amber.png"/>
          <p:cNvPicPr>
            <a:picLocks noChangeAspect="1"/>
          </p:cNvPicPr>
          <p:nvPr/>
        </p:nvPicPr>
        <p:blipFill>
          <a:blip r:embed="rId5"/>
          <a:stretch>
            <a:fillRect/>
          </a:stretch>
        </p:blipFill>
        <p:spPr>
          <a:xfrm>
            <a:off x="745236" y="3259836"/>
            <a:ext cx="292608" cy="292608"/>
          </a:xfrm>
          <a:prstGeom prst="rect">
            <a:avLst/>
          </a:prstGeom>
        </p:spPr>
      </p:pic>
      <p:sp>
        <p:nvSpPr>
          <p:cNvPr id="15" name="Text 10"/>
          <p:cNvSpPr txBox="1"/>
          <p:nvPr/>
        </p:nvSpPr>
        <p:spPr>
          <a:xfrm>
            <a:off x="1280160" y="3127248"/>
            <a:ext cx="461772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Efficient Power Switching</a:t>
            </a:r>
            <a:endParaRPr lang="en-US" sz="1250" dirty="0"/>
          </a:p>
        </p:txBody>
      </p:sp>
      <p:sp>
        <p:nvSpPr>
          <p:cNvPr id="16" name="Text 11"/>
          <p:cNvSpPr txBox="1"/>
          <p:nvPr/>
        </p:nvSpPr>
        <p:spPr>
          <a:xfrm>
            <a:off x="1280160" y="3410712"/>
            <a:ext cx="4617720" cy="457200"/>
          </a:xfrm>
          <a:prstGeom prst="rect">
            <a:avLst/>
          </a:prstGeom>
          <a:noFill/>
          <a:ln/>
        </p:spPr>
        <p:txBody>
          <a:bodyPr wrap="square" lIns="0" tIns="0" rIns="0" bIns="0" rtlCol="0" anchor="ctr"/>
          <a:lstStyle/>
          <a:p>
            <a:pPr marL="0" indent="0">
              <a:lnSpc>
                <a:spcPct val="110000"/>
              </a:lnSpc>
              <a:buNone/>
            </a:pPr>
            <a:r>
              <a:rPr lang="en-US" sz="1050" dirty="0">
                <a:solidFill>
                  <a:srgbClr val="4A5568"/>
                </a:solidFill>
                <a:latin typeface="Calibri" pitchFamily="34" charset="0"/>
                <a:ea typeface="Calibri" pitchFamily="34" charset="-122"/>
                <a:cs typeface="Calibri" pitchFamily="34" charset="-120"/>
              </a:rPr>
              <a:t>Relay/driver stage switches load cleanly, minimizing switching losses.</a:t>
            </a:r>
            <a:endParaRPr lang="en-US" sz="1050" dirty="0"/>
          </a:p>
        </p:txBody>
      </p:sp>
      <p:sp>
        <p:nvSpPr>
          <p:cNvPr id="17" name="Shape 12"/>
          <p:cNvSpPr/>
          <p:nvPr/>
        </p:nvSpPr>
        <p:spPr>
          <a:xfrm>
            <a:off x="6172200" y="3154680"/>
            <a:ext cx="502920" cy="502920"/>
          </a:xfrm>
          <a:prstGeom prst="ellipse">
            <a:avLst/>
          </a:prstGeom>
          <a:solidFill>
            <a:srgbClr val="1B2A4A"/>
          </a:solidFill>
          <a:ln/>
        </p:spPr>
      </p:sp>
      <p:pic>
        <p:nvPicPr>
          <p:cNvPr id="18" name="Image 3" descr="/home/claude/streetlight_ppt/icon_radar_amber.png"/>
          <p:cNvPicPr>
            <a:picLocks noChangeAspect="1"/>
          </p:cNvPicPr>
          <p:nvPr/>
        </p:nvPicPr>
        <p:blipFill>
          <a:blip r:embed="rId6"/>
          <a:stretch>
            <a:fillRect/>
          </a:stretch>
        </p:blipFill>
        <p:spPr>
          <a:xfrm>
            <a:off x="6277356" y="3259836"/>
            <a:ext cx="292608" cy="292608"/>
          </a:xfrm>
          <a:prstGeom prst="rect">
            <a:avLst/>
          </a:prstGeom>
        </p:spPr>
      </p:pic>
      <p:sp>
        <p:nvSpPr>
          <p:cNvPr id="19" name="Text 13"/>
          <p:cNvSpPr txBox="1"/>
          <p:nvPr/>
        </p:nvSpPr>
        <p:spPr>
          <a:xfrm>
            <a:off x="6812280" y="3127248"/>
            <a:ext cx="461772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Optional Motion Sensing</a:t>
            </a:r>
            <a:endParaRPr lang="en-US" sz="1250" dirty="0"/>
          </a:p>
        </p:txBody>
      </p:sp>
      <p:sp>
        <p:nvSpPr>
          <p:cNvPr id="20" name="Text 14"/>
          <p:cNvSpPr txBox="1"/>
          <p:nvPr/>
        </p:nvSpPr>
        <p:spPr>
          <a:xfrm>
            <a:off x="6812280" y="3410712"/>
            <a:ext cx="4617720" cy="457200"/>
          </a:xfrm>
          <a:prstGeom prst="rect">
            <a:avLst/>
          </a:prstGeom>
          <a:noFill/>
          <a:ln/>
        </p:spPr>
        <p:txBody>
          <a:bodyPr wrap="square" lIns="0" tIns="0" rIns="0" bIns="0" rtlCol="0" anchor="ctr"/>
          <a:lstStyle/>
          <a:p>
            <a:pPr marL="0" indent="0">
              <a:lnSpc>
                <a:spcPct val="110000"/>
              </a:lnSpc>
              <a:buNone/>
            </a:pPr>
            <a:r>
              <a:rPr lang="en-US" sz="1050" dirty="0">
                <a:solidFill>
                  <a:srgbClr val="4A5568"/>
                </a:solidFill>
                <a:latin typeface="Calibri" pitchFamily="34" charset="0"/>
                <a:ea typeface="Calibri" pitchFamily="34" charset="-122"/>
                <a:cs typeface="Calibri" pitchFamily="34" charset="-120"/>
              </a:rPr>
              <a:t>PIR input can further dim/brighten lights based on road activity.</a:t>
            </a:r>
            <a:endParaRPr lang="en-US" sz="1050" dirty="0"/>
          </a:p>
        </p:txBody>
      </p:sp>
      <p:sp>
        <p:nvSpPr>
          <p:cNvPr id="21" name="Shape 15"/>
          <p:cNvSpPr/>
          <p:nvPr/>
        </p:nvSpPr>
        <p:spPr>
          <a:xfrm>
            <a:off x="640080" y="3977640"/>
            <a:ext cx="502920" cy="502920"/>
          </a:xfrm>
          <a:prstGeom prst="ellipse">
            <a:avLst/>
          </a:prstGeom>
          <a:solidFill>
            <a:srgbClr val="1B2A4A"/>
          </a:solidFill>
          <a:ln/>
        </p:spPr>
      </p:sp>
      <p:pic>
        <p:nvPicPr>
          <p:cNvPr id="22" name="Image 4" descr="/home/claude/streetlight_ppt/icon_check_amber.png"/>
          <p:cNvPicPr>
            <a:picLocks noChangeAspect="1"/>
          </p:cNvPicPr>
          <p:nvPr/>
        </p:nvPicPr>
        <p:blipFill>
          <a:blip r:embed="rId7"/>
          <a:stretch>
            <a:fillRect/>
          </a:stretch>
        </p:blipFill>
        <p:spPr>
          <a:xfrm>
            <a:off x="745236" y="4082796"/>
            <a:ext cx="292608" cy="292608"/>
          </a:xfrm>
          <a:prstGeom prst="rect">
            <a:avLst/>
          </a:prstGeom>
        </p:spPr>
      </p:pic>
      <p:sp>
        <p:nvSpPr>
          <p:cNvPr id="23" name="Text 16"/>
          <p:cNvSpPr txBox="1"/>
          <p:nvPr/>
        </p:nvSpPr>
        <p:spPr>
          <a:xfrm>
            <a:off x="1280160" y="3950208"/>
            <a:ext cx="461772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Simulated Validation</a:t>
            </a:r>
            <a:endParaRPr lang="en-US" sz="1250" dirty="0"/>
          </a:p>
        </p:txBody>
      </p:sp>
      <p:sp>
        <p:nvSpPr>
          <p:cNvPr id="24" name="Text 17"/>
          <p:cNvSpPr txBox="1"/>
          <p:nvPr/>
        </p:nvSpPr>
        <p:spPr>
          <a:xfrm>
            <a:off x="1280160" y="4233672"/>
            <a:ext cx="4617720" cy="457200"/>
          </a:xfrm>
          <a:prstGeom prst="rect">
            <a:avLst/>
          </a:prstGeom>
          <a:noFill/>
          <a:ln/>
        </p:spPr>
        <p:txBody>
          <a:bodyPr wrap="square" lIns="0" tIns="0" rIns="0" bIns="0" rtlCol="0" anchor="ctr"/>
          <a:lstStyle/>
          <a:p>
            <a:pPr marL="0" indent="0">
              <a:lnSpc>
                <a:spcPct val="110000"/>
              </a:lnSpc>
              <a:buNone/>
            </a:pPr>
            <a:r>
              <a:rPr lang="en-US" sz="1050" dirty="0">
                <a:solidFill>
                  <a:srgbClr val="4A5568"/>
                </a:solidFill>
                <a:latin typeface="Calibri" pitchFamily="34" charset="0"/>
                <a:ea typeface="Calibri" pitchFamily="34" charset="-122"/>
                <a:cs typeface="Calibri" pitchFamily="34" charset="-120"/>
              </a:rPr>
              <a:t>Behaviour verified in simulation (e.g., Proteus) before hardware build.</a:t>
            </a:r>
            <a:endParaRPr lang="en-US" sz="1050" dirty="0"/>
          </a:p>
        </p:txBody>
      </p:sp>
      <p:sp>
        <p:nvSpPr>
          <p:cNvPr id="25" name="Shape 18"/>
          <p:cNvSpPr/>
          <p:nvPr/>
        </p:nvSpPr>
        <p:spPr>
          <a:xfrm>
            <a:off x="6172200" y="3977640"/>
            <a:ext cx="502920" cy="502920"/>
          </a:xfrm>
          <a:prstGeom prst="ellipse">
            <a:avLst/>
          </a:prstGeom>
          <a:solidFill>
            <a:srgbClr val="1B2A4A"/>
          </a:solidFill>
          <a:ln/>
        </p:spPr>
      </p:sp>
      <p:pic>
        <p:nvPicPr>
          <p:cNvPr id="26" name="Image 5" descr="/home/claude/streetlight_ppt/icon_chart_amber.png"/>
          <p:cNvPicPr>
            <a:picLocks noChangeAspect="1"/>
          </p:cNvPicPr>
          <p:nvPr/>
        </p:nvPicPr>
        <p:blipFill>
          <a:blip r:embed="rId8"/>
          <a:stretch>
            <a:fillRect/>
          </a:stretch>
        </p:blipFill>
        <p:spPr>
          <a:xfrm>
            <a:off x="6277356" y="4082796"/>
            <a:ext cx="292608" cy="292608"/>
          </a:xfrm>
          <a:prstGeom prst="rect">
            <a:avLst/>
          </a:prstGeom>
        </p:spPr>
      </p:pic>
      <p:sp>
        <p:nvSpPr>
          <p:cNvPr id="27" name="Text 19"/>
          <p:cNvSpPr txBox="1"/>
          <p:nvPr/>
        </p:nvSpPr>
        <p:spPr>
          <a:xfrm>
            <a:off x="6812280" y="3950208"/>
            <a:ext cx="4617720" cy="2743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Improved Energy Efficiency</a:t>
            </a:r>
            <a:endParaRPr lang="en-US" sz="1250" dirty="0"/>
          </a:p>
        </p:txBody>
      </p:sp>
      <p:sp>
        <p:nvSpPr>
          <p:cNvPr id="28" name="Text 20"/>
          <p:cNvSpPr txBox="1"/>
          <p:nvPr/>
        </p:nvSpPr>
        <p:spPr>
          <a:xfrm>
            <a:off x="6812280" y="4233672"/>
            <a:ext cx="4617720" cy="457200"/>
          </a:xfrm>
          <a:prstGeom prst="rect">
            <a:avLst/>
          </a:prstGeom>
          <a:noFill/>
          <a:ln/>
        </p:spPr>
        <p:txBody>
          <a:bodyPr wrap="square" lIns="0" tIns="0" rIns="0" bIns="0" rtlCol="0" anchor="ctr"/>
          <a:lstStyle/>
          <a:p>
            <a:pPr marL="0" indent="0">
              <a:lnSpc>
                <a:spcPct val="110000"/>
              </a:lnSpc>
              <a:buNone/>
            </a:pPr>
            <a:r>
              <a:rPr lang="en-US" sz="1050" dirty="0">
                <a:solidFill>
                  <a:srgbClr val="4A5568"/>
                </a:solidFill>
                <a:latin typeface="Calibri" pitchFamily="34" charset="0"/>
                <a:ea typeface="Calibri" pitchFamily="34" charset="-122"/>
                <a:cs typeface="Calibri" pitchFamily="34" charset="-120"/>
              </a:rPr>
              <a:t>Reduces wasted operating hours versus timer-based existing systems.</a:t>
            </a:r>
            <a:endParaRPr lang="en-US" sz="1050" dirty="0"/>
          </a:p>
        </p:txBody>
      </p:sp>
      <p:sp>
        <p:nvSpPr>
          <p:cNvPr id="29" name="Text 21"/>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9AA3B8"/>
                </a:solidFill>
                <a:latin typeface="Calibri" pitchFamily="34" charset="0"/>
                <a:ea typeface="Calibri" pitchFamily="34" charset="-122"/>
                <a:cs typeface="Calibri" pitchFamily="34" charset="-120"/>
              </a:rPr>
              <a:t>Automatic Street Light Control System</a:t>
            </a:r>
            <a:endParaRPr lang="en-US" sz="900" dirty="0"/>
          </a:p>
        </p:txBody>
      </p:sp>
      <p:sp>
        <p:nvSpPr>
          <p:cNvPr id="30" name="Text 22"/>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B33"/>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F4B942"/>
                </a:solidFill>
                <a:latin typeface="Calibri" pitchFamily="34" charset="0"/>
                <a:ea typeface="Calibri" pitchFamily="34" charset="-122"/>
                <a:cs typeface="Calibri" pitchFamily="34" charset="-120"/>
              </a:rPr>
              <a:t>06 · SYSTEM ARCHITECTURE</a:t>
            </a:r>
            <a:endParaRPr lang="en-US" sz="1300" dirty="0"/>
          </a:p>
        </p:txBody>
      </p:sp>
      <p:sp>
        <p:nvSpPr>
          <p:cNvPr id="3" name="Text 1"/>
          <p:cNvSpPr txBox="1"/>
          <p:nvPr/>
        </p:nvSpPr>
        <p:spPr>
          <a:xfrm>
            <a:off x="640080" y="713232"/>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System Architecture / Block Diagram</a:t>
            </a:r>
            <a:endParaRPr lang="en-US" sz="3200" dirty="0"/>
          </a:p>
        </p:txBody>
      </p:sp>
      <p:sp>
        <p:nvSpPr>
          <p:cNvPr id="4" name="Shape 2"/>
          <p:cNvSpPr/>
          <p:nvPr/>
        </p:nvSpPr>
        <p:spPr>
          <a:xfrm>
            <a:off x="653796" y="2103120"/>
            <a:ext cx="1600200" cy="1691640"/>
          </a:xfrm>
          <a:prstGeom prst="roundRect">
            <a:avLst>
              <a:gd name="adj" fmla="val 5714"/>
            </a:avLst>
          </a:prstGeom>
          <a:solidFill>
            <a:srgbClr val="1B2A4A"/>
          </a:solidFill>
          <a:ln w="15875">
            <a:solidFill>
              <a:srgbClr val="3A4C7A"/>
            </a:solidFill>
            <a:prstDash val="solid"/>
          </a:ln>
        </p:spPr>
      </p:sp>
      <p:sp>
        <p:nvSpPr>
          <p:cNvPr id="5" name="Shape 3"/>
          <p:cNvSpPr/>
          <p:nvPr/>
        </p:nvSpPr>
        <p:spPr>
          <a:xfrm>
            <a:off x="1143000" y="2304288"/>
            <a:ext cx="621792" cy="621792"/>
          </a:xfrm>
          <a:prstGeom prst="ellipse">
            <a:avLst/>
          </a:prstGeom>
          <a:solidFill>
            <a:srgbClr val="273B66"/>
          </a:solidFill>
          <a:ln/>
        </p:spPr>
      </p:sp>
      <p:pic>
        <p:nvPicPr>
          <p:cNvPr id="6" name="Image 0" descr="/home/claude/streetlight_ppt/icon_ebolt_amber.png"/>
          <p:cNvPicPr>
            <a:picLocks noChangeAspect="1"/>
          </p:cNvPicPr>
          <p:nvPr/>
        </p:nvPicPr>
        <p:blipFill>
          <a:blip r:embed="rId3"/>
          <a:stretch>
            <a:fillRect/>
          </a:stretch>
        </p:blipFill>
        <p:spPr>
          <a:xfrm>
            <a:off x="1271016" y="2432304"/>
            <a:ext cx="365760" cy="365760"/>
          </a:xfrm>
          <a:prstGeom prst="rect">
            <a:avLst/>
          </a:prstGeom>
        </p:spPr>
      </p:pic>
      <p:sp>
        <p:nvSpPr>
          <p:cNvPr id="7" name="Text 4"/>
          <p:cNvSpPr txBox="1"/>
          <p:nvPr/>
        </p:nvSpPr>
        <p:spPr>
          <a:xfrm>
            <a:off x="726948" y="3017520"/>
            <a:ext cx="1453896"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Power Supply</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Unit</a:t>
            </a:r>
            <a:endParaRPr lang="en-US" sz="1100" dirty="0"/>
          </a:p>
        </p:txBody>
      </p:sp>
      <p:sp>
        <p:nvSpPr>
          <p:cNvPr id="8" name="Text 5"/>
          <p:cNvSpPr txBox="1"/>
          <p:nvPr/>
        </p:nvSpPr>
        <p:spPr>
          <a:xfrm>
            <a:off x="726948" y="3520440"/>
            <a:ext cx="1453896" cy="256032"/>
          </a:xfrm>
          <a:prstGeom prst="rect">
            <a:avLst/>
          </a:prstGeom>
          <a:noFill/>
          <a:ln/>
        </p:spPr>
        <p:txBody>
          <a:bodyPr wrap="square" lIns="0" tIns="0" rIns="0" bIns="0" rtlCol="0" anchor="ctr"/>
          <a:lstStyle/>
          <a:p>
            <a:pPr marL="0" indent="0" algn="ctr">
              <a:buNone/>
            </a:pPr>
            <a:r>
              <a:rPr lang="en-US" sz="850" i="1" dirty="0">
                <a:solidFill>
                  <a:srgbClr val="CADCFC"/>
                </a:solidFill>
                <a:latin typeface="Calibri" pitchFamily="34" charset="0"/>
                <a:ea typeface="Calibri" pitchFamily="34" charset="-122"/>
                <a:cs typeface="Calibri" pitchFamily="34" charset="-120"/>
              </a:rPr>
              <a:t>5V/12V Regulated</a:t>
            </a:r>
            <a:endParaRPr lang="en-US" sz="850" dirty="0"/>
          </a:p>
        </p:txBody>
      </p:sp>
      <p:sp>
        <p:nvSpPr>
          <p:cNvPr id="9" name="Shape 6"/>
          <p:cNvSpPr/>
          <p:nvPr/>
        </p:nvSpPr>
        <p:spPr>
          <a:xfrm>
            <a:off x="2253996" y="2866644"/>
            <a:ext cx="256032" cy="164592"/>
          </a:xfrm>
          <a:prstGeom prst="rightArrow">
            <a:avLst/>
          </a:prstGeom>
          <a:solidFill>
            <a:srgbClr val="F4B942"/>
          </a:solidFill>
          <a:ln/>
        </p:spPr>
      </p:sp>
      <p:sp>
        <p:nvSpPr>
          <p:cNvPr id="10" name="Shape 7"/>
          <p:cNvSpPr/>
          <p:nvPr/>
        </p:nvSpPr>
        <p:spPr>
          <a:xfrm>
            <a:off x="2510028" y="2103120"/>
            <a:ext cx="1600200" cy="1691640"/>
          </a:xfrm>
          <a:prstGeom prst="roundRect">
            <a:avLst>
              <a:gd name="adj" fmla="val 5714"/>
            </a:avLst>
          </a:prstGeom>
          <a:solidFill>
            <a:srgbClr val="1B2A4A"/>
          </a:solidFill>
          <a:ln w="15875">
            <a:solidFill>
              <a:srgbClr val="3A4C7A"/>
            </a:solidFill>
            <a:prstDash val="solid"/>
          </a:ln>
        </p:spPr>
      </p:sp>
      <p:sp>
        <p:nvSpPr>
          <p:cNvPr id="11" name="Shape 8"/>
          <p:cNvSpPr/>
          <p:nvPr/>
        </p:nvSpPr>
        <p:spPr>
          <a:xfrm>
            <a:off x="2999232" y="2304288"/>
            <a:ext cx="621792" cy="621792"/>
          </a:xfrm>
          <a:prstGeom prst="ellipse">
            <a:avLst/>
          </a:prstGeom>
          <a:solidFill>
            <a:srgbClr val="273B66"/>
          </a:solidFill>
          <a:ln/>
        </p:spPr>
      </p:sp>
      <p:pic>
        <p:nvPicPr>
          <p:cNvPr id="12" name="Image 1" descr="/home/claude/streetlight_ppt/icon_sensor_amber.png"/>
          <p:cNvPicPr>
            <a:picLocks noChangeAspect="1"/>
          </p:cNvPicPr>
          <p:nvPr/>
        </p:nvPicPr>
        <p:blipFill>
          <a:blip r:embed="rId4"/>
          <a:stretch>
            <a:fillRect/>
          </a:stretch>
        </p:blipFill>
        <p:spPr>
          <a:xfrm>
            <a:off x="3127248" y="2432304"/>
            <a:ext cx="365760" cy="365760"/>
          </a:xfrm>
          <a:prstGeom prst="rect">
            <a:avLst/>
          </a:prstGeom>
        </p:spPr>
      </p:pic>
      <p:sp>
        <p:nvSpPr>
          <p:cNvPr id="13" name="Text 9"/>
          <p:cNvSpPr txBox="1"/>
          <p:nvPr/>
        </p:nvSpPr>
        <p:spPr>
          <a:xfrm>
            <a:off x="2583180" y="3017520"/>
            <a:ext cx="1453896"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LDR Sensor</a:t>
            </a:r>
            <a:endParaRPr lang="en-US" sz="1100" dirty="0"/>
          </a:p>
        </p:txBody>
      </p:sp>
      <p:sp>
        <p:nvSpPr>
          <p:cNvPr id="14" name="Text 10"/>
          <p:cNvSpPr txBox="1"/>
          <p:nvPr/>
        </p:nvSpPr>
        <p:spPr>
          <a:xfrm>
            <a:off x="2583180" y="3520440"/>
            <a:ext cx="1453896" cy="256032"/>
          </a:xfrm>
          <a:prstGeom prst="rect">
            <a:avLst/>
          </a:prstGeom>
          <a:noFill/>
          <a:ln/>
        </p:spPr>
        <p:txBody>
          <a:bodyPr wrap="square" lIns="0" tIns="0" rIns="0" bIns="0" rtlCol="0" anchor="ctr"/>
          <a:lstStyle/>
          <a:p>
            <a:pPr marL="0" indent="0" algn="ctr">
              <a:buNone/>
            </a:pPr>
            <a:r>
              <a:rPr lang="en-US" sz="850" i="1" dirty="0">
                <a:solidFill>
                  <a:srgbClr val="CADCFC"/>
                </a:solidFill>
                <a:latin typeface="Calibri" pitchFamily="34" charset="0"/>
                <a:ea typeface="Calibri" pitchFamily="34" charset="-122"/>
                <a:cs typeface="Calibri" pitchFamily="34" charset="-120"/>
              </a:rPr>
              <a:t>Light Intensity</a:t>
            </a:r>
            <a:endParaRPr lang="en-US" sz="850" dirty="0"/>
          </a:p>
        </p:txBody>
      </p:sp>
      <p:sp>
        <p:nvSpPr>
          <p:cNvPr id="15" name="Shape 11"/>
          <p:cNvSpPr/>
          <p:nvPr/>
        </p:nvSpPr>
        <p:spPr>
          <a:xfrm>
            <a:off x="4110228" y="2866644"/>
            <a:ext cx="256032" cy="164592"/>
          </a:xfrm>
          <a:prstGeom prst="rightArrow">
            <a:avLst/>
          </a:prstGeom>
          <a:solidFill>
            <a:srgbClr val="F4B942"/>
          </a:solidFill>
          <a:ln/>
        </p:spPr>
      </p:sp>
      <p:sp>
        <p:nvSpPr>
          <p:cNvPr id="16" name="Shape 12"/>
          <p:cNvSpPr/>
          <p:nvPr/>
        </p:nvSpPr>
        <p:spPr>
          <a:xfrm>
            <a:off x="4366260" y="2103120"/>
            <a:ext cx="1600200" cy="1691640"/>
          </a:xfrm>
          <a:prstGeom prst="roundRect">
            <a:avLst>
              <a:gd name="adj" fmla="val 5714"/>
            </a:avLst>
          </a:prstGeom>
          <a:solidFill>
            <a:srgbClr val="1B2A4A"/>
          </a:solidFill>
          <a:ln w="15875">
            <a:solidFill>
              <a:srgbClr val="3A4C7A"/>
            </a:solidFill>
            <a:prstDash val="solid"/>
          </a:ln>
        </p:spPr>
      </p:sp>
      <p:sp>
        <p:nvSpPr>
          <p:cNvPr id="17" name="Shape 13"/>
          <p:cNvSpPr/>
          <p:nvPr/>
        </p:nvSpPr>
        <p:spPr>
          <a:xfrm>
            <a:off x="4855464" y="2304288"/>
            <a:ext cx="621792" cy="621792"/>
          </a:xfrm>
          <a:prstGeom prst="ellipse">
            <a:avLst/>
          </a:prstGeom>
          <a:solidFill>
            <a:srgbClr val="273B66"/>
          </a:solidFill>
          <a:ln/>
        </p:spPr>
      </p:sp>
      <p:pic>
        <p:nvPicPr>
          <p:cNvPr id="18" name="Image 2" descr="/home/claude/streetlight_ppt/icon_component_amber.png"/>
          <p:cNvPicPr>
            <a:picLocks noChangeAspect="1"/>
          </p:cNvPicPr>
          <p:nvPr/>
        </p:nvPicPr>
        <p:blipFill>
          <a:blip r:embed="rId5"/>
          <a:stretch>
            <a:fillRect/>
          </a:stretch>
        </p:blipFill>
        <p:spPr>
          <a:xfrm>
            <a:off x="4983480" y="2432304"/>
            <a:ext cx="365760" cy="365760"/>
          </a:xfrm>
          <a:prstGeom prst="rect">
            <a:avLst/>
          </a:prstGeom>
        </p:spPr>
      </p:pic>
      <p:sp>
        <p:nvSpPr>
          <p:cNvPr id="19" name="Text 14"/>
          <p:cNvSpPr txBox="1"/>
          <p:nvPr/>
        </p:nvSpPr>
        <p:spPr>
          <a:xfrm>
            <a:off x="4439412" y="3017520"/>
            <a:ext cx="1453896"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Conditioning</a:t>
            </a:r>
            <a:endParaRPr lang="en-US" sz="1100" dirty="0"/>
          </a:p>
        </p:txBody>
      </p:sp>
      <p:sp>
        <p:nvSpPr>
          <p:cNvPr id="20" name="Text 15"/>
          <p:cNvSpPr txBox="1"/>
          <p:nvPr/>
        </p:nvSpPr>
        <p:spPr>
          <a:xfrm>
            <a:off x="4439412" y="3520440"/>
            <a:ext cx="1453896" cy="256032"/>
          </a:xfrm>
          <a:prstGeom prst="rect">
            <a:avLst/>
          </a:prstGeom>
          <a:noFill/>
          <a:ln/>
        </p:spPr>
        <p:txBody>
          <a:bodyPr wrap="square" lIns="0" tIns="0" rIns="0" bIns="0" rtlCol="0" anchor="ctr"/>
          <a:lstStyle/>
          <a:p>
            <a:pPr marL="0" indent="0" algn="ctr">
              <a:buNone/>
            </a:pPr>
            <a:r>
              <a:rPr lang="en-US" sz="850" i="1" dirty="0">
                <a:solidFill>
                  <a:srgbClr val="CADCFC"/>
                </a:solidFill>
                <a:latin typeface="Calibri" pitchFamily="34" charset="0"/>
                <a:ea typeface="Calibri" pitchFamily="34" charset="-122"/>
                <a:cs typeface="Calibri" pitchFamily="34" charset="-120"/>
              </a:rPr>
              <a:t>Comparator / ADC</a:t>
            </a:r>
            <a:endParaRPr lang="en-US" sz="850" dirty="0"/>
          </a:p>
        </p:txBody>
      </p:sp>
      <p:sp>
        <p:nvSpPr>
          <p:cNvPr id="21" name="Shape 16"/>
          <p:cNvSpPr/>
          <p:nvPr/>
        </p:nvSpPr>
        <p:spPr>
          <a:xfrm>
            <a:off x="5966460" y="2866644"/>
            <a:ext cx="256032" cy="164592"/>
          </a:xfrm>
          <a:prstGeom prst="rightArrow">
            <a:avLst/>
          </a:prstGeom>
          <a:solidFill>
            <a:srgbClr val="F4B942"/>
          </a:solidFill>
          <a:ln/>
        </p:spPr>
      </p:sp>
      <p:sp>
        <p:nvSpPr>
          <p:cNvPr id="22" name="Shape 17"/>
          <p:cNvSpPr/>
          <p:nvPr/>
        </p:nvSpPr>
        <p:spPr>
          <a:xfrm>
            <a:off x="6222492" y="2103120"/>
            <a:ext cx="1600200" cy="1691640"/>
          </a:xfrm>
          <a:prstGeom prst="roundRect">
            <a:avLst>
              <a:gd name="adj" fmla="val 5714"/>
            </a:avLst>
          </a:prstGeom>
          <a:solidFill>
            <a:srgbClr val="1B2A4A"/>
          </a:solidFill>
          <a:ln w="15875">
            <a:solidFill>
              <a:srgbClr val="3A4C7A"/>
            </a:solidFill>
            <a:prstDash val="solid"/>
          </a:ln>
        </p:spPr>
      </p:sp>
      <p:sp>
        <p:nvSpPr>
          <p:cNvPr id="23" name="Shape 18"/>
          <p:cNvSpPr/>
          <p:nvPr/>
        </p:nvSpPr>
        <p:spPr>
          <a:xfrm>
            <a:off x="6711696" y="2304288"/>
            <a:ext cx="621792" cy="621792"/>
          </a:xfrm>
          <a:prstGeom prst="ellipse">
            <a:avLst/>
          </a:prstGeom>
          <a:solidFill>
            <a:srgbClr val="273B66"/>
          </a:solidFill>
          <a:ln/>
        </p:spPr>
      </p:sp>
      <p:pic>
        <p:nvPicPr>
          <p:cNvPr id="24" name="Image 3" descr="/home/claude/streetlight_ppt/icon_chip_amber.png"/>
          <p:cNvPicPr>
            <a:picLocks noChangeAspect="1"/>
          </p:cNvPicPr>
          <p:nvPr/>
        </p:nvPicPr>
        <p:blipFill>
          <a:blip r:embed="rId6"/>
          <a:stretch>
            <a:fillRect/>
          </a:stretch>
        </p:blipFill>
        <p:spPr>
          <a:xfrm>
            <a:off x="6839712" y="2432304"/>
            <a:ext cx="365760" cy="365760"/>
          </a:xfrm>
          <a:prstGeom prst="rect">
            <a:avLst/>
          </a:prstGeom>
        </p:spPr>
      </p:pic>
      <p:sp>
        <p:nvSpPr>
          <p:cNvPr id="25" name="Text 19"/>
          <p:cNvSpPr txBox="1"/>
          <p:nvPr/>
        </p:nvSpPr>
        <p:spPr>
          <a:xfrm>
            <a:off x="6295644" y="3017520"/>
            <a:ext cx="1453896"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Microcontroller</a:t>
            </a:r>
            <a:endParaRPr lang="en-US" sz="1100" dirty="0"/>
          </a:p>
        </p:txBody>
      </p:sp>
      <p:sp>
        <p:nvSpPr>
          <p:cNvPr id="26" name="Text 20"/>
          <p:cNvSpPr txBox="1"/>
          <p:nvPr/>
        </p:nvSpPr>
        <p:spPr>
          <a:xfrm>
            <a:off x="6295644" y="3520440"/>
            <a:ext cx="1453896" cy="256032"/>
          </a:xfrm>
          <a:prstGeom prst="rect">
            <a:avLst/>
          </a:prstGeom>
          <a:noFill/>
          <a:ln/>
        </p:spPr>
        <p:txBody>
          <a:bodyPr wrap="square" lIns="0" tIns="0" rIns="0" bIns="0" rtlCol="0" anchor="ctr"/>
          <a:lstStyle/>
          <a:p>
            <a:pPr marL="0" indent="0" algn="ctr">
              <a:buNone/>
            </a:pPr>
            <a:r>
              <a:rPr lang="en-US" sz="850" i="1" dirty="0">
                <a:solidFill>
                  <a:srgbClr val="CADCFC"/>
                </a:solidFill>
                <a:latin typeface="Calibri" pitchFamily="34" charset="0"/>
                <a:ea typeface="Calibri" pitchFamily="34" charset="-122"/>
                <a:cs typeface="Calibri" pitchFamily="34" charset="-120"/>
              </a:rPr>
              <a:t>Decision Logic</a:t>
            </a:r>
            <a:endParaRPr lang="en-US" sz="850" dirty="0"/>
          </a:p>
        </p:txBody>
      </p:sp>
      <p:sp>
        <p:nvSpPr>
          <p:cNvPr id="27" name="Shape 21"/>
          <p:cNvSpPr/>
          <p:nvPr/>
        </p:nvSpPr>
        <p:spPr>
          <a:xfrm>
            <a:off x="7822692" y="2866644"/>
            <a:ext cx="256032" cy="164592"/>
          </a:xfrm>
          <a:prstGeom prst="rightArrow">
            <a:avLst/>
          </a:prstGeom>
          <a:solidFill>
            <a:srgbClr val="F4B942"/>
          </a:solidFill>
          <a:ln/>
        </p:spPr>
      </p:sp>
      <p:sp>
        <p:nvSpPr>
          <p:cNvPr id="28" name="Shape 22"/>
          <p:cNvSpPr/>
          <p:nvPr/>
        </p:nvSpPr>
        <p:spPr>
          <a:xfrm>
            <a:off x="8078724" y="2103120"/>
            <a:ext cx="1600200" cy="1691640"/>
          </a:xfrm>
          <a:prstGeom prst="roundRect">
            <a:avLst>
              <a:gd name="adj" fmla="val 5714"/>
            </a:avLst>
          </a:prstGeom>
          <a:solidFill>
            <a:srgbClr val="1B2A4A"/>
          </a:solidFill>
          <a:ln w="15875">
            <a:solidFill>
              <a:srgbClr val="3A4C7A"/>
            </a:solidFill>
            <a:prstDash val="solid"/>
          </a:ln>
        </p:spPr>
      </p:sp>
      <p:sp>
        <p:nvSpPr>
          <p:cNvPr id="29" name="Shape 23"/>
          <p:cNvSpPr/>
          <p:nvPr/>
        </p:nvSpPr>
        <p:spPr>
          <a:xfrm>
            <a:off x="8567928" y="2304288"/>
            <a:ext cx="621792" cy="621792"/>
          </a:xfrm>
          <a:prstGeom prst="ellipse">
            <a:avLst/>
          </a:prstGeom>
          <a:solidFill>
            <a:srgbClr val="273B66"/>
          </a:solidFill>
          <a:ln/>
        </p:spPr>
      </p:sp>
      <p:pic>
        <p:nvPicPr>
          <p:cNvPr id="30" name="Image 4" descr="/home/claude/streetlight_ppt/icon_board_amber.png"/>
          <p:cNvPicPr>
            <a:picLocks noChangeAspect="1"/>
          </p:cNvPicPr>
          <p:nvPr/>
        </p:nvPicPr>
        <p:blipFill>
          <a:blip r:embed="rId7"/>
          <a:stretch>
            <a:fillRect/>
          </a:stretch>
        </p:blipFill>
        <p:spPr>
          <a:xfrm>
            <a:off x="8695944" y="2432304"/>
            <a:ext cx="365760" cy="365760"/>
          </a:xfrm>
          <a:prstGeom prst="rect">
            <a:avLst/>
          </a:prstGeom>
        </p:spPr>
      </p:pic>
      <p:sp>
        <p:nvSpPr>
          <p:cNvPr id="31" name="Text 24"/>
          <p:cNvSpPr txBox="1"/>
          <p:nvPr/>
        </p:nvSpPr>
        <p:spPr>
          <a:xfrm>
            <a:off x="8151876" y="3017520"/>
            <a:ext cx="1453896"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Relay / Driver</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Circuit</a:t>
            </a:r>
            <a:endParaRPr lang="en-US" sz="1100" dirty="0"/>
          </a:p>
        </p:txBody>
      </p:sp>
      <p:sp>
        <p:nvSpPr>
          <p:cNvPr id="32" name="Text 25"/>
          <p:cNvSpPr txBox="1"/>
          <p:nvPr/>
        </p:nvSpPr>
        <p:spPr>
          <a:xfrm>
            <a:off x="8151876" y="3520440"/>
            <a:ext cx="1453896" cy="256032"/>
          </a:xfrm>
          <a:prstGeom prst="rect">
            <a:avLst/>
          </a:prstGeom>
          <a:noFill/>
          <a:ln/>
        </p:spPr>
        <p:txBody>
          <a:bodyPr wrap="square" lIns="0" tIns="0" rIns="0" bIns="0" rtlCol="0" anchor="ctr"/>
          <a:lstStyle/>
          <a:p>
            <a:pPr marL="0" indent="0" algn="ctr">
              <a:buNone/>
            </a:pPr>
            <a:r>
              <a:rPr lang="en-US" sz="850" i="1" dirty="0">
                <a:solidFill>
                  <a:srgbClr val="CADCFC"/>
                </a:solidFill>
                <a:latin typeface="Calibri" pitchFamily="34" charset="0"/>
                <a:ea typeface="Calibri" pitchFamily="34" charset="-122"/>
                <a:cs typeface="Calibri" pitchFamily="34" charset="-120"/>
              </a:rPr>
              <a:t>Switching Stage</a:t>
            </a:r>
            <a:endParaRPr lang="en-US" sz="850" dirty="0"/>
          </a:p>
        </p:txBody>
      </p:sp>
      <p:sp>
        <p:nvSpPr>
          <p:cNvPr id="33" name="Shape 26"/>
          <p:cNvSpPr/>
          <p:nvPr/>
        </p:nvSpPr>
        <p:spPr>
          <a:xfrm>
            <a:off x="9678924" y="2866644"/>
            <a:ext cx="256032" cy="164592"/>
          </a:xfrm>
          <a:prstGeom prst="rightArrow">
            <a:avLst/>
          </a:prstGeom>
          <a:solidFill>
            <a:srgbClr val="F4B942"/>
          </a:solidFill>
          <a:ln/>
        </p:spPr>
      </p:sp>
      <p:sp>
        <p:nvSpPr>
          <p:cNvPr id="34" name="Shape 27"/>
          <p:cNvSpPr/>
          <p:nvPr/>
        </p:nvSpPr>
        <p:spPr>
          <a:xfrm>
            <a:off x="9934956" y="2103120"/>
            <a:ext cx="1600200" cy="1691640"/>
          </a:xfrm>
          <a:prstGeom prst="roundRect">
            <a:avLst>
              <a:gd name="adj" fmla="val 5714"/>
            </a:avLst>
          </a:prstGeom>
          <a:solidFill>
            <a:srgbClr val="1B2A4A"/>
          </a:solidFill>
          <a:ln w="15875">
            <a:solidFill>
              <a:srgbClr val="3A4C7A"/>
            </a:solidFill>
            <a:prstDash val="solid"/>
          </a:ln>
        </p:spPr>
      </p:sp>
      <p:sp>
        <p:nvSpPr>
          <p:cNvPr id="35" name="Shape 28"/>
          <p:cNvSpPr/>
          <p:nvPr/>
        </p:nvSpPr>
        <p:spPr>
          <a:xfrm>
            <a:off x="10424160" y="2304288"/>
            <a:ext cx="621792" cy="621792"/>
          </a:xfrm>
          <a:prstGeom prst="ellipse">
            <a:avLst/>
          </a:prstGeom>
          <a:solidFill>
            <a:srgbClr val="F4B942"/>
          </a:solidFill>
          <a:ln/>
        </p:spPr>
      </p:sp>
      <p:pic>
        <p:nvPicPr>
          <p:cNvPr id="36" name="Image 5" descr="/home/claude/streetlight_ppt/icon_lightbulb_navy.png"/>
          <p:cNvPicPr>
            <a:picLocks noChangeAspect="1"/>
          </p:cNvPicPr>
          <p:nvPr/>
        </p:nvPicPr>
        <p:blipFill>
          <a:blip r:embed="rId8"/>
          <a:stretch>
            <a:fillRect/>
          </a:stretch>
        </p:blipFill>
        <p:spPr>
          <a:xfrm>
            <a:off x="10552176" y="2432304"/>
            <a:ext cx="365760" cy="365760"/>
          </a:xfrm>
          <a:prstGeom prst="rect">
            <a:avLst/>
          </a:prstGeom>
        </p:spPr>
      </p:pic>
      <p:sp>
        <p:nvSpPr>
          <p:cNvPr id="37" name="Text 29"/>
          <p:cNvSpPr txBox="1"/>
          <p:nvPr/>
        </p:nvSpPr>
        <p:spPr>
          <a:xfrm>
            <a:off x="10008108" y="3017520"/>
            <a:ext cx="1453896"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Street Light</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(LED/Lamp)</a:t>
            </a:r>
            <a:endParaRPr lang="en-US" sz="1100" dirty="0"/>
          </a:p>
        </p:txBody>
      </p:sp>
      <p:sp>
        <p:nvSpPr>
          <p:cNvPr id="38" name="Text 30"/>
          <p:cNvSpPr txBox="1"/>
          <p:nvPr/>
        </p:nvSpPr>
        <p:spPr>
          <a:xfrm>
            <a:off x="10008108" y="3520440"/>
            <a:ext cx="1453896" cy="256032"/>
          </a:xfrm>
          <a:prstGeom prst="rect">
            <a:avLst/>
          </a:prstGeom>
          <a:noFill/>
          <a:ln/>
        </p:spPr>
        <p:txBody>
          <a:bodyPr wrap="square" lIns="0" tIns="0" rIns="0" bIns="0" rtlCol="0" anchor="ctr"/>
          <a:lstStyle/>
          <a:p>
            <a:pPr marL="0" indent="0" algn="ctr">
              <a:buNone/>
            </a:pPr>
            <a:r>
              <a:rPr lang="en-US" sz="850" i="1" dirty="0">
                <a:solidFill>
                  <a:srgbClr val="CADCFC"/>
                </a:solidFill>
                <a:latin typeface="Calibri" pitchFamily="34" charset="0"/>
                <a:ea typeface="Calibri" pitchFamily="34" charset="-122"/>
                <a:cs typeface="Calibri" pitchFamily="34" charset="-120"/>
              </a:rPr>
              <a:t>Output Load</a:t>
            </a:r>
            <a:endParaRPr lang="en-US" sz="850" dirty="0"/>
          </a:p>
        </p:txBody>
      </p:sp>
      <p:sp>
        <p:nvSpPr>
          <p:cNvPr id="39" name="Shape 31"/>
          <p:cNvSpPr/>
          <p:nvPr/>
        </p:nvSpPr>
        <p:spPr>
          <a:xfrm>
            <a:off x="1453896" y="1783080"/>
            <a:ext cx="9281160" cy="0"/>
          </a:xfrm>
          <a:prstGeom prst="line">
            <a:avLst/>
          </a:prstGeom>
          <a:noFill/>
          <a:ln w="19050">
            <a:solidFill>
              <a:srgbClr val="3A4C7A"/>
            </a:solidFill>
            <a:prstDash val="dash"/>
          </a:ln>
        </p:spPr>
      </p:sp>
      <p:sp>
        <p:nvSpPr>
          <p:cNvPr id="40" name="Shape 32"/>
          <p:cNvSpPr/>
          <p:nvPr/>
        </p:nvSpPr>
        <p:spPr>
          <a:xfrm>
            <a:off x="1453896" y="1783080"/>
            <a:ext cx="0" cy="320040"/>
          </a:xfrm>
          <a:prstGeom prst="line">
            <a:avLst/>
          </a:prstGeom>
          <a:noFill/>
          <a:ln w="19050">
            <a:solidFill>
              <a:srgbClr val="3A4C7A"/>
            </a:solidFill>
            <a:prstDash val="dash"/>
          </a:ln>
        </p:spPr>
      </p:sp>
      <p:sp>
        <p:nvSpPr>
          <p:cNvPr id="41" name="Text 33"/>
          <p:cNvSpPr txBox="1"/>
          <p:nvPr/>
        </p:nvSpPr>
        <p:spPr>
          <a:xfrm>
            <a:off x="653796" y="1463040"/>
            <a:ext cx="10881360" cy="274320"/>
          </a:xfrm>
          <a:prstGeom prst="rect">
            <a:avLst/>
          </a:prstGeom>
          <a:noFill/>
          <a:ln/>
        </p:spPr>
        <p:txBody>
          <a:bodyPr wrap="square" lIns="0" tIns="0" rIns="0" bIns="0" rtlCol="0" anchor="ctr"/>
          <a:lstStyle/>
          <a:p>
            <a:pPr marL="0" indent="0" algn="ctr">
              <a:buNone/>
            </a:pPr>
            <a:r>
              <a:rPr lang="en-US" sz="1000" i="1" dirty="0">
                <a:solidFill>
                  <a:srgbClr val="8A97B8"/>
                </a:solidFill>
                <a:latin typeface="Calibri" pitchFamily="34" charset="0"/>
                <a:ea typeface="Calibri" pitchFamily="34" charset="-122"/>
                <a:cs typeface="Calibri" pitchFamily="34" charset="-120"/>
              </a:rPr>
              <a:t>Power Supply Bus</a:t>
            </a:r>
            <a:endParaRPr lang="en-US" sz="1000" dirty="0"/>
          </a:p>
        </p:txBody>
      </p:sp>
      <p:sp>
        <p:nvSpPr>
          <p:cNvPr id="42" name="Text 34"/>
          <p:cNvSpPr txBox="1"/>
          <p:nvPr/>
        </p:nvSpPr>
        <p:spPr>
          <a:xfrm>
            <a:off x="640080" y="4343400"/>
            <a:ext cx="10881360" cy="457200"/>
          </a:xfrm>
          <a:prstGeom prst="rect">
            <a:avLst/>
          </a:prstGeom>
          <a:noFill/>
          <a:ln/>
        </p:spPr>
        <p:txBody>
          <a:bodyPr wrap="square" lIns="0" tIns="0" rIns="0" bIns="0" rtlCol="0" anchor="ctr"/>
          <a:lstStyle/>
          <a:p>
            <a:pPr marL="0" indent="0" algn="ctr">
              <a:buNone/>
            </a:pPr>
            <a:r>
              <a:rPr lang="en-US" sz="1200" i="1" dirty="0">
                <a:solidFill>
                  <a:srgbClr val="CADCFC"/>
                </a:solidFill>
                <a:latin typeface="Calibri" pitchFamily="34" charset="0"/>
                <a:ea typeface="Calibri" pitchFamily="34" charset="-122"/>
                <a:cs typeface="Calibri" pitchFamily="34" charset="-120"/>
              </a:rPr>
              <a:t>Signal / Control Flow:  Ambient light → LDR sensing → Conditioning → Microcontroller logic → Relay switching → Street light output</a:t>
            </a:r>
            <a:endParaRPr lang="en-US" sz="1200" dirty="0"/>
          </a:p>
        </p:txBody>
      </p:sp>
      <p:sp>
        <p:nvSpPr>
          <p:cNvPr id="43" name="Shape 35"/>
          <p:cNvSpPr/>
          <p:nvPr/>
        </p:nvSpPr>
        <p:spPr>
          <a:xfrm>
            <a:off x="2194560" y="5074920"/>
            <a:ext cx="7772400" cy="868680"/>
          </a:xfrm>
          <a:prstGeom prst="roundRect">
            <a:avLst>
              <a:gd name="adj" fmla="val 10526"/>
            </a:avLst>
          </a:prstGeom>
          <a:solidFill>
            <a:srgbClr val="1B2A4A"/>
          </a:solidFill>
          <a:ln w="12700">
            <a:solidFill>
              <a:srgbClr val="F4B942"/>
            </a:solidFill>
            <a:prstDash val="solid"/>
          </a:ln>
        </p:spPr>
      </p:sp>
      <p:sp>
        <p:nvSpPr>
          <p:cNvPr id="44" name="Text 36"/>
          <p:cNvSpPr txBox="1"/>
          <p:nvPr/>
        </p:nvSpPr>
        <p:spPr>
          <a:xfrm>
            <a:off x="2423160" y="5074920"/>
            <a:ext cx="7315200" cy="868680"/>
          </a:xfrm>
          <a:prstGeom prst="rect">
            <a:avLst/>
          </a:prstGeom>
          <a:noFill/>
          <a:ln/>
        </p:spPr>
        <p:txBody>
          <a:bodyPr wrap="square" lIns="0" tIns="0" rIns="0" bIns="0" rtlCol="0" anchor="ctr"/>
          <a:lstStyle/>
          <a:p>
            <a:pPr marL="0" indent="0">
              <a:lnSpc>
                <a:spcPct val="115000"/>
              </a:lnSpc>
              <a:buNone/>
            </a:pPr>
            <a:r>
              <a:rPr lang="en-US" sz="1100" dirty="0">
                <a:solidFill>
                  <a:srgbClr val="FFFFFF"/>
                </a:solidFill>
                <a:latin typeface="Calibri" pitchFamily="34" charset="0"/>
                <a:ea typeface="Calibri" pitchFamily="34" charset="-122"/>
                <a:cs typeface="Calibri" pitchFamily="34" charset="-120"/>
              </a:rPr>
              <a:t>Closed-loop behaviour: the microcontroller continuously polls the LDR reading, so the light state automatically tracks changing ambient conditions in real time — no manual intervention required.</a:t>
            </a:r>
            <a:endParaRPr lang="en-US" sz="1100" dirty="0"/>
          </a:p>
        </p:txBody>
      </p:sp>
      <p:sp>
        <p:nvSpPr>
          <p:cNvPr id="45" name="Text 37"/>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8A97B8"/>
                </a:solidFill>
                <a:latin typeface="Calibri" pitchFamily="34" charset="0"/>
                <a:ea typeface="Calibri" pitchFamily="34" charset="-122"/>
                <a:cs typeface="Calibri" pitchFamily="34" charset="-120"/>
              </a:rPr>
              <a:t>Automatic Street Light Control System</a:t>
            </a:r>
            <a:endParaRPr lang="en-US" sz="900" dirty="0"/>
          </a:p>
        </p:txBody>
      </p:sp>
      <p:sp>
        <p:nvSpPr>
          <p:cNvPr id="46" name="Text 38"/>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A97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C98F1E"/>
                </a:solidFill>
                <a:latin typeface="Calibri" pitchFamily="34" charset="0"/>
                <a:ea typeface="Calibri" pitchFamily="34" charset="-122"/>
                <a:cs typeface="Calibri" pitchFamily="34" charset="-120"/>
              </a:rPr>
              <a:t>07 · METHODOLOGY</a:t>
            </a:r>
            <a:endParaRPr lang="en-US" sz="1300" dirty="0"/>
          </a:p>
        </p:txBody>
      </p:sp>
      <p:sp>
        <p:nvSpPr>
          <p:cNvPr id="3" name="Text 1"/>
          <p:cNvSpPr txBox="1"/>
          <p:nvPr/>
        </p:nvSpPr>
        <p:spPr>
          <a:xfrm>
            <a:off x="640080" y="713232"/>
            <a:ext cx="9144000" cy="640080"/>
          </a:xfrm>
          <a:prstGeom prst="rect">
            <a:avLst/>
          </a:prstGeom>
          <a:noFill/>
          <a:ln/>
        </p:spPr>
        <p:txBody>
          <a:bodyPr wrap="square" lIns="0" tIns="0" rIns="0" bIns="0" rtlCol="0" anchor="ctr"/>
          <a:lstStyle/>
          <a:p>
            <a:pPr marL="0" indent="0">
              <a:buNone/>
            </a:pPr>
            <a:r>
              <a:rPr lang="en-US" sz="3400" b="1" dirty="0">
                <a:solidFill>
                  <a:srgbClr val="1B2A4A"/>
                </a:solidFill>
                <a:latin typeface="Cambria" pitchFamily="34" charset="0"/>
                <a:ea typeface="Cambria" pitchFamily="34" charset="-122"/>
                <a:cs typeface="Cambria" pitchFamily="34" charset="-120"/>
              </a:rPr>
              <a:t>Methodology / Implementation</a:t>
            </a:r>
            <a:endParaRPr lang="en-US" sz="3400" dirty="0"/>
          </a:p>
        </p:txBody>
      </p:sp>
      <p:sp>
        <p:nvSpPr>
          <p:cNvPr id="4" name="Shape 2"/>
          <p:cNvSpPr/>
          <p:nvPr/>
        </p:nvSpPr>
        <p:spPr>
          <a:xfrm>
            <a:off x="640080" y="1600200"/>
            <a:ext cx="457200" cy="457200"/>
          </a:xfrm>
          <a:prstGeom prst="ellipse">
            <a:avLst/>
          </a:prstGeom>
          <a:solidFill>
            <a:srgbClr val="1B2A4A"/>
          </a:solidFill>
          <a:ln/>
        </p:spPr>
      </p:sp>
      <p:sp>
        <p:nvSpPr>
          <p:cNvPr id="5" name="Text 3"/>
          <p:cNvSpPr txBox="1"/>
          <p:nvPr/>
        </p:nvSpPr>
        <p:spPr>
          <a:xfrm>
            <a:off x="640080" y="1600200"/>
            <a:ext cx="457200" cy="457200"/>
          </a:xfrm>
          <a:prstGeom prst="rect">
            <a:avLst/>
          </a:prstGeom>
          <a:noFill/>
          <a:ln/>
        </p:spPr>
        <p:txBody>
          <a:bodyPr wrap="square" lIns="0" tIns="0" rIns="0" bIns="0" rtlCol="0" anchor="ctr"/>
          <a:lstStyle/>
          <a:p>
            <a:pPr marL="0" indent="0" algn="ctr">
              <a:buNone/>
            </a:pPr>
            <a:r>
              <a:rPr lang="en-US" sz="1500" b="1" dirty="0">
                <a:solidFill>
                  <a:srgbClr val="F4B942"/>
                </a:solidFill>
                <a:latin typeface="Calibri" pitchFamily="34" charset="0"/>
                <a:ea typeface="Calibri" pitchFamily="34" charset="-122"/>
                <a:cs typeface="Calibri" pitchFamily="34" charset="-120"/>
              </a:rPr>
              <a:t>1</a:t>
            </a:r>
            <a:endParaRPr lang="en-US" sz="1500" dirty="0"/>
          </a:p>
        </p:txBody>
      </p:sp>
      <p:sp>
        <p:nvSpPr>
          <p:cNvPr id="6" name="Shape 4"/>
          <p:cNvSpPr/>
          <p:nvPr/>
        </p:nvSpPr>
        <p:spPr>
          <a:xfrm>
            <a:off x="868680" y="2057400"/>
            <a:ext cx="0" cy="438912"/>
          </a:xfrm>
          <a:prstGeom prst="line">
            <a:avLst/>
          </a:prstGeom>
          <a:noFill/>
          <a:ln w="19050">
            <a:solidFill>
              <a:srgbClr val="C7CEE3"/>
            </a:solidFill>
            <a:prstDash val="dash"/>
          </a:ln>
        </p:spPr>
      </p:sp>
      <p:sp>
        <p:nvSpPr>
          <p:cNvPr id="7" name="Text 5"/>
          <p:cNvSpPr txBox="1"/>
          <p:nvPr/>
        </p:nvSpPr>
        <p:spPr>
          <a:xfrm>
            <a:off x="1280160" y="1581912"/>
            <a:ext cx="5120640" cy="29260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Component Selection</a:t>
            </a:r>
            <a:endParaRPr lang="en-US" sz="1300" dirty="0"/>
          </a:p>
        </p:txBody>
      </p:sp>
      <p:sp>
        <p:nvSpPr>
          <p:cNvPr id="8" name="Text 6"/>
          <p:cNvSpPr txBox="1"/>
          <p:nvPr/>
        </p:nvSpPr>
        <p:spPr>
          <a:xfrm>
            <a:off x="1280160" y="1865376"/>
            <a:ext cx="5120640" cy="548640"/>
          </a:xfrm>
          <a:prstGeom prst="rect">
            <a:avLst/>
          </a:prstGeom>
          <a:noFill/>
          <a:ln/>
        </p:spPr>
        <p:txBody>
          <a:bodyPr wrap="square" lIns="0" tIns="0" rIns="0" bIns="0" rtlCol="0" anchor="ctr"/>
          <a:lstStyle/>
          <a:p>
            <a:pPr marL="0" indent="0">
              <a:lnSpc>
                <a:spcPct val="112000"/>
              </a:lnSpc>
              <a:buNone/>
            </a:pPr>
            <a:r>
              <a:rPr lang="en-US" sz="1000" dirty="0">
                <a:solidFill>
                  <a:srgbClr val="4A5568"/>
                </a:solidFill>
                <a:latin typeface="Calibri" pitchFamily="34" charset="0"/>
                <a:ea typeface="Calibri" pitchFamily="34" charset="-122"/>
                <a:cs typeface="Calibri" pitchFamily="34" charset="-120"/>
              </a:rPr>
              <a:t>Choose LDR, microcontroller (e.g., Arduino/8051), relay module, resistors, and LED/lamp load.</a:t>
            </a:r>
            <a:endParaRPr lang="en-US" sz="1000" dirty="0"/>
          </a:p>
        </p:txBody>
      </p:sp>
      <p:sp>
        <p:nvSpPr>
          <p:cNvPr id="9" name="Shape 7"/>
          <p:cNvSpPr/>
          <p:nvPr/>
        </p:nvSpPr>
        <p:spPr>
          <a:xfrm>
            <a:off x="640080" y="2496312"/>
            <a:ext cx="457200" cy="457200"/>
          </a:xfrm>
          <a:prstGeom prst="ellipse">
            <a:avLst/>
          </a:prstGeom>
          <a:solidFill>
            <a:srgbClr val="1B2A4A"/>
          </a:solidFill>
          <a:ln/>
        </p:spPr>
      </p:sp>
      <p:sp>
        <p:nvSpPr>
          <p:cNvPr id="10" name="Text 8"/>
          <p:cNvSpPr txBox="1"/>
          <p:nvPr/>
        </p:nvSpPr>
        <p:spPr>
          <a:xfrm>
            <a:off x="640080" y="2496312"/>
            <a:ext cx="457200" cy="457200"/>
          </a:xfrm>
          <a:prstGeom prst="rect">
            <a:avLst/>
          </a:prstGeom>
          <a:noFill/>
          <a:ln/>
        </p:spPr>
        <p:txBody>
          <a:bodyPr wrap="square" lIns="0" tIns="0" rIns="0" bIns="0" rtlCol="0" anchor="ctr"/>
          <a:lstStyle/>
          <a:p>
            <a:pPr marL="0" indent="0" algn="ctr">
              <a:buNone/>
            </a:pPr>
            <a:r>
              <a:rPr lang="en-US" sz="1500" b="1" dirty="0">
                <a:solidFill>
                  <a:srgbClr val="F4B942"/>
                </a:solidFill>
                <a:latin typeface="Calibri" pitchFamily="34" charset="0"/>
                <a:ea typeface="Calibri" pitchFamily="34" charset="-122"/>
                <a:cs typeface="Calibri" pitchFamily="34" charset="-120"/>
              </a:rPr>
              <a:t>2</a:t>
            </a:r>
            <a:endParaRPr lang="en-US" sz="1500" dirty="0"/>
          </a:p>
        </p:txBody>
      </p:sp>
      <p:sp>
        <p:nvSpPr>
          <p:cNvPr id="11" name="Shape 9"/>
          <p:cNvSpPr/>
          <p:nvPr/>
        </p:nvSpPr>
        <p:spPr>
          <a:xfrm>
            <a:off x="868680" y="2953512"/>
            <a:ext cx="0" cy="438912"/>
          </a:xfrm>
          <a:prstGeom prst="line">
            <a:avLst/>
          </a:prstGeom>
          <a:noFill/>
          <a:ln w="19050">
            <a:solidFill>
              <a:srgbClr val="C7CEE3"/>
            </a:solidFill>
            <a:prstDash val="dash"/>
          </a:ln>
        </p:spPr>
      </p:sp>
      <p:sp>
        <p:nvSpPr>
          <p:cNvPr id="12" name="Text 10"/>
          <p:cNvSpPr txBox="1"/>
          <p:nvPr/>
        </p:nvSpPr>
        <p:spPr>
          <a:xfrm>
            <a:off x="1280160" y="2478024"/>
            <a:ext cx="5120640" cy="29260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Circuit Design</a:t>
            </a:r>
            <a:endParaRPr lang="en-US" sz="1300" dirty="0"/>
          </a:p>
        </p:txBody>
      </p:sp>
      <p:sp>
        <p:nvSpPr>
          <p:cNvPr id="13" name="Text 11"/>
          <p:cNvSpPr txBox="1"/>
          <p:nvPr/>
        </p:nvSpPr>
        <p:spPr>
          <a:xfrm>
            <a:off x="1280160" y="2761488"/>
            <a:ext cx="5120640" cy="548640"/>
          </a:xfrm>
          <a:prstGeom prst="rect">
            <a:avLst/>
          </a:prstGeom>
          <a:noFill/>
          <a:ln/>
        </p:spPr>
        <p:txBody>
          <a:bodyPr wrap="square" lIns="0" tIns="0" rIns="0" bIns="0" rtlCol="0" anchor="ctr"/>
          <a:lstStyle/>
          <a:p>
            <a:pPr marL="0" indent="0">
              <a:lnSpc>
                <a:spcPct val="112000"/>
              </a:lnSpc>
              <a:buNone/>
            </a:pPr>
            <a:r>
              <a:rPr lang="en-US" sz="1000" dirty="0">
                <a:solidFill>
                  <a:srgbClr val="4A5568"/>
                </a:solidFill>
                <a:latin typeface="Calibri" pitchFamily="34" charset="0"/>
                <a:ea typeface="Calibri" pitchFamily="34" charset="-122"/>
                <a:cs typeface="Calibri" pitchFamily="34" charset="-120"/>
              </a:rPr>
              <a:t>Design the LDR voltage-divider sensing stage and interface it to the controller's analog/digital input.</a:t>
            </a:r>
            <a:endParaRPr lang="en-US" sz="1000" dirty="0"/>
          </a:p>
        </p:txBody>
      </p:sp>
      <p:sp>
        <p:nvSpPr>
          <p:cNvPr id="14" name="Shape 12"/>
          <p:cNvSpPr/>
          <p:nvPr/>
        </p:nvSpPr>
        <p:spPr>
          <a:xfrm>
            <a:off x="640080" y="3392424"/>
            <a:ext cx="457200" cy="457200"/>
          </a:xfrm>
          <a:prstGeom prst="ellipse">
            <a:avLst/>
          </a:prstGeom>
          <a:solidFill>
            <a:srgbClr val="1B2A4A"/>
          </a:solidFill>
          <a:ln/>
        </p:spPr>
      </p:sp>
      <p:sp>
        <p:nvSpPr>
          <p:cNvPr id="15" name="Text 13"/>
          <p:cNvSpPr txBox="1"/>
          <p:nvPr/>
        </p:nvSpPr>
        <p:spPr>
          <a:xfrm>
            <a:off x="640080" y="3392424"/>
            <a:ext cx="457200" cy="457200"/>
          </a:xfrm>
          <a:prstGeom prst="rect">
            <a:avLst/>
          </a:prstGeom>
          <a:noFill/>
          <a:ln/>
        </p:spPr>
        <p:txBody>
          <a:bodyPr wrap="square" lIns="0" tIns="0" rIns="0" bIns="0" rtlCol="0" anchor="ctr"/>
          <a:lstStyle/>
          <a:p>
            <a:pPr marL="0" indent="0" algn="ctr">
              <a:buNone/>
            </a:pPr>
            <a:r>
              <a:rPr lang="en-US" sz="1500" b="1" dirty="0">
                <a:solidFill>
                  <a:srgbClr val="F4B942"/>
                </a:solidFill>
                <a:latin typeface="Calibri" pitchFamily="34" charset="0"/>
                <a:ea typeface="Calibri" pitchFamily="34" charset="-122"/>
                <a:cs typeface="Calibri" pitchFamily="34" charset="-120"/>
              </a:rPr>
              <a:t>3</a:t>
            </a:r>
            <a:endParaRPr lang="en-US" sz="1500" dirty="0"/>
          </a:p>
        </p:txBody>
      </p:sp>
      <p:sp>
        <p:nvSpPr>
          <p:cNvPr id="16" name="Shape 14"/>
          <p:cNvSpPr/>
          <p:nvPr/>
        </p:nvSpPr>
        <p:spPr>
          <a:xfrm>
            <a:off x="868680" y="3849624"/>
            <a:ext cx="0" cy="438912"/>
          </a:xfrm>
          <a:prstGeom prst="line">
            <a:avLst/>
          </a:prstGeom>
          <a:noFill/>
          <a:ln w="19050">
            <a:solidFill>
              <a:srgbClr val="C7CEE3"/>
            </a:solidFill>
            <a:prstDash val="dash"/>
          </a:ln>
        </p:spPr>
      </p:sp>
      <p:sp>
        <p:nvSpPr>
          <p:cNvPr id="17" name="Text 15"/>
          <p:cNvSpPr txBox="1"/>
          <p:nvPr/>
        </p:nvSpPr>
        <p:spPr>
          <a:xfrm>
            <a:off x="1280160" y="3374136"/>
            <a:ext cx="5120640" cy="29260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Logic Programming</a:t>
            </a:r>
            <a:endParaRPr lang="en-US" sz="1300" dirty="0"/>
          </a:p>
        </p:txBody>
      </p:sp>
      <p:sp>
        <p:nvSpPr>
          <p:cNvPr id="18" name="Text 16"/>
          <p:cNvSpPr txBox="1"/>
          <p:nvPr/>
        </p:nvSpPr>
        <p:spPr>
          <a:xfrm>
            <a:off x="1280160" y="3657600"/>
            <a:ext cx="5120640" cy="548640"/>
          </a:xfrm>
          <a:prstGeom prst="rect">
            <a:avLst/>
          </a:prstGeom>
          <a:noFill/>
          <a:ln/>
        </p:spPr>
        <p:txBody>
          <a:bodyPr wrap="square" lIns="0" tIns="0" rIns="0" bIns="0" rtlCol="0" anchor="ctr"/>
          <a:lstStyle/>
          <a:p>
            <a:pPr marL="0" indent="0">
              <a:lnSpc>
                <a:spcPct val="112000"/>
              </a:lnSpc>
              <a:buNone/>
            </a:pPr>
            <a:r>
              <a:rPr lang="en-US" sz="1000" dirty="0">
                <a:solidFill>
                  <a:srgbClr val="4A5568"/>
                </a:solidFill>
                <a:latin typeface="Calibri" pitchFamily="34" charset="0"/>
                <a:ea typeface="Calibri" pitchFamily="34" charset="-122"/>
                <a:cs typeface="Calibri" pitchFamily="34" charset="-120"/>
              </a:rPr>
              <a:t>Program the threshold-comparison logic to trigger the relay when darkness is detected.</a:t>
            </a:r>
            <a:endParaRPr lang="en-US" sz="1000" dirty="0"/>
          </a:p>
        </p:txBody>
      </p:sp>
      <p:sp>
        <p:nvSpPr>
          <p:cNvPr id="19" name="Shape 17"/>
          <p:cNvSpPr/>
          <p:nvPr/>
        </p:nvSpPr>
        <p:spPr>
          <a:xfrm>
            <a:off x="640080" y="4288536"/>
            <a:ext cx="457200" cy="457200"/>
          </a:xfrm>
          <a:prstGeom prst="ellipse">
            <a:avLst/>
          </a:prstGeom>
          <a:solidFill>
            <a:srgbClr val="1B2A4A"/>
          </a:solidFill>
          <a:ln/>
        </p:spPr>
      </p:sp>
      <p:sp>
        <p:nvSpPr>
          <p:cNvPr id="20" name="Text 18"/>
          <p:cNvSpPr txBox="1"/>
          <p:nvPr/>
        </p:nvSpPr>
        <p:spPr>
          <a:xfrm>
            <a:off x="640080" y="4288536"/>
            <a:ext cx="457200" cy="457200"/>
          </a:xfrm>
          <a:prstGeom prst="rect">
            <a:avLst/>
          </a:prstGeom>
          <a:noFill/>
          <a:ln/>
        </p:spPr>
        <p:txBody>
          <a:bodyPr wrap="square" lIns="0" tIns="0" rIns="0" bIns="0" rtlCol="0" anchor="ctr"/>
          <a:lstStyle/>
          <a:p>
            <a:pPr marL="0" indent="0" algn="ctr">
              <a:buNone/>
            </a:pPr>
            <a:r>
              <a:rPr lang="en-US" sz="1500" b="1" dirty="0">
                <a:solidFill>
                  <a:srgbClr val="F4B942"/>
                </a:solidFill>
                <a:latin typeface="Calibri" pitchFamily="34" charset="0"/>
                <a:ea typeface="Calibri" pitchFamily="34" charset="-122"/>
                <a:cs typeface="Calibri" pitchFamily="34" charset="-120"/>
              </a:rPr>
              <a:t>4</a:t>
            </a:r>
            <a:endParaRPr lang="en-US" sz="1500" dirty="0"/>
          </a:p>
        </p:txBody>
      </p:sp>
      <p:sp>
        <p:nvSpPr>
          <p:cNvPr id="21" name="Shape 19"/>
          <p:cNvSpPr/>
          <p:nvPr/>
        </p:nvSpPr>
        <p:spPr>
          <a:xfrm>
            <a:off x="868680" y="4745736"/>
            <a:ext cx="0" cy="438912"/>
          </a:xfrm>
          <a:prstGeom prst="line">
            <a:avLst/>
          </a:prstGeom>
          <a:noFill/>
          <a:ln w="19050">
            <a:solidFill>
              <a:srgbClr val="C7CEE3"/>
            </a:solidFill>
            <a:prstDash val="dash"/>
          </a:ln>
        </p:spPr>
      </p:sp>
      <p:sp>
        <p:nvSpPr>
          <p:cNvPr id="22" name="Text 20"/>
          <p:cNvSpPr txBox="1"/>
          <p:nvPr/>
        </p:nvSpPr>
        <p:spPr>
          <a:xfrm>
            <a:off x="1280160" y="4270248"/>
            <a:ext cx="5120640" cy="29260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Simulation</a:t>
            </a:r>
            <a:endParaRPr lang="en-US" sz="1300" dirty="0"/>
          </a:p>
        </p:txBody>
      </p:sp>
      <p:sp>
        <p:nvSpPr>
          <p:cNvPr id="23" name="Text 21"/>
          <p:cNvSpPr txBox="1"/>
          <p:nvPr/>
        </p:nvSpPr>
        <p:spPr>
          <a:xfrm>
            <a:off x="1280160" y="4553712"/>
            <a:ext cx="5120640" cy="548640"/>
          </a:xfrm>
          <a:prstGeom prst="rect">
            <a:avLst/>
          </a:prstGeom>
          <a:noFill/>
          <a:ln/>
        </p:spPr>
        <p:txBody>
          <a:bodyPr wrap="square" lIns="0" tIns="0" rIns="0" bIns="0" rtlCol="0" anchor="ctr"/>
          <a:lstStyle/>
          <a:p>
            <a:pPr marL="0" indent="0">
              <a:lnSpc>
                <a:spcPct val="112000"/>
              </a:lnSpc>
              <a:buNone/>
            </a:pPr>
            <a:r>
              <a:rPr lang="en-US" sz="1000" dirty="0">
                <a:solidFill>
                  <a:srgbClr val="4A5568"/>
                </a:solidFill>
                <a:latin typeface="Calibri" pitchFamily="34" charset="0"/>
                <a:ea typeface="Calibri" pitchFamily="34" charset="-122"/>
                <a:cs typeface="Calibri" pitchFamily="34" charset="-120"/>
              </a:rPr>
              <a:t>Build and run the circuit in simulation software (e.g., Proteus) to verify switching behaviour.</a:t>
            </a:r>
            <a:endParaRPr lang="en-US" sz="1000" dirty="0"/>
          </a:p>
        </p:txBody>
      </p:sp>
      <p:sp>
        <p:nvSpPr>
          <p:cNvPr id="24" name="Shape 22"/>
          <p:cNvSpPr/>
          <p:nvPr/>
        </p:nvSpPr>
        <p:spPr>
          <a:xfrm>
            <a:off x="640080" y="5184648"/>
            <a:ext cx="457200" cy="457200"/>
          </a:xfrm>
          <a:prstGeom prst="ellipse">
            <a:avLst/>
          </a:prstGeom>
          <a:solidFill>
            <a:srgbClr val="1B2A4A"/>
          </a:solidFill>
          <a:ln/>
        </p:spPr>
      </p:sp>
      <p:sp>
        <p:nvSpPr>
          <p:cNvPr id="25" name="Text 23"/>
          <p:cNvSpPr txBox="1"/>
          <p:nvPr/>
        </p:nvSpPr>
        <p:spPr>
          <a:xfrm>
            <a:off x="640080" y="5184648"/>
            <a:ext cx="457200" cy="457200"/>
          </a:xfrm>
          <a:prstGeom prst="rect">
            <a:avLst/>
          </a:prstGeom>
          <a:noFill/>
          <a:ln/>
        </p:spPr>
        <p:txBody>
          <a:bodyPr wrap="square" lIns="0" tIns="0" rIns="0" bIns="0" rtlCol="0" anchor="ctr"/>
          <a:lstStyle/>
          <a:p>
            <a:pPr marL="0" indent="0" algn="ctr">
              <a:buNone/>
            </a:pPr>
            <a:r>
              <a:rPr lang="en-US" sz="1500" b="1" dirty="0">
                <a:solidFill>
                  <a:srgbClr val="F4B942"/>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1280160" y="5166360"/>
            <a:ext cx="5120640" cy="29260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Testing &amp; Validation</a:t>
            </a:r>
            <a:endParaRPr lang="en-US" sz="1300" dirty="0"/>
          </a:p>
        </p:txBody>
      </p:sp>
      <p:sp>
        <p:nvSpPr>
          <p:cNvPr id="27" name="Text 25"/>
          <p:cNvSpPr txBox="1"/>
          <p:nvPr/>
        </p:nvSpPr>
        <p:spPr>
          <a:xfrm>
            <a:off x="1280160" y="5449824"/>
            <a:ext cx="5120640" cy="548640"/>
          </a:xfrm>
          <a:prstGeom prst="rect">
            <a:avLst/>
          </a:prstGeom>
          <a:noFill/>
          <a:ln/>
        </p:spPr>
        <p:txBody>
          <a:bodyPr wrap="square" lIns="0" tIns="0" rIns="0" bIns="0" rtlCol="0" anchor="ctr"/>
          <a:lstStyle/>
          <a:p>
            <a:pPr marL="0" indent="0">
              <a:lnSpc>
                <a:spcPct val="112000"/>
              </a:lnSpc>
              <a:buNone/>
            </a:pPr>
            <a:r>
              <a:rPr lang="en-US" sz="1000" dirty="0">
                <a:solidFill>
                  <a:srgbClr val="4A5568"/>
                </a:solidFill>
                <a:latin typeface="Calibri" pitchFamily="34" charset="0"/>
                <a:ea typeface="Calibri" pitchFamily="34" charset="-122"/>
                <a:cs typeface="Calibri" pitchFamily="34" charset="-120"/>
              </a:rPr>
              <a:t>Vary simulated light levels to confirm correct ON/OFF response and record results.</a:t>
            </a:r>
            <a:endParaRPr lang="en-US" sz="1000" dirty="0"/>
          </a:p>
        </p:txBody>
      </p:sp>
      <p:sp>
        <p:nvSpPr>
          <p:cNvPr id="28" name="Shape 26"/>
          <p:cNvSpPr/>
          <p:nvPr/>
        </p:nvSpPr>
        <p:spPr>
          <a:xfrm>
            <a:off x="6949440" y="1600200"/>
            <a:ext cx="4572000" cy="4709160"/>
          </a:xfrm>
          <a:prstGeom prst="roundRect">
            <a:avLst>
              <a:gd name="adj" fmla="val 2400"/>
            </a:avLst>
          </a:prstGeom>
          <a:solidFill>
            <a:srgbClr val="1B2A4A"/>
          </a:solidFill>
          <a:ln/>
        </p:spPr>
      </p:sp>
      <p:sp>
        <p:nvSpPr>
          <p:cNvPr id="29" name="Text 27"/>
          <p:cNvSpPr txBox="1"/>
          <p:nvPr/>
        </p:nvSpPr>
        <p:spPr>
          <a:xfrm>
            <a:off x="7269480" y="1764792"/>
            <a:ext cx="3931920" cy="320040"/>
          </a:xfrm>
          <a:prstGeom prst="rect">
            <a:avLst/>
          </a:prstGeom>
          <a:noFill/>
          <a:ln/>
        </p:spPr>
        <p:txBody>
          <a:bodyPr wrap="square" lIns="0" tIns="0" rIns="0" bIns="0" rtlCol="0" anchor="ctr"/>
          <a:lstStyle/>
          <a:p>
            <a:pPr marL="0" indent="0">
              <a:buNone/>
            </a:pPr>
            <a:r>
              <a:rPr lang="en-US" sz="1350" b="1" dirty="0">
                <a:solidFill>
                  <a:srgbClr val="F4B942"/>
                </a:solidFill>
                <a:latin typeface="Calibri" pitchFamily="34" charset="0"/>
                <a:ea typeface="Calibri" pitchFamily="34" charset="-122"/>
                <a:cs typeface="Calibri" pitchFamily="34" charset="-120"/>
              </a:rPr>
              <a:t>Key Circuit Components</a:t>
            </a:r>
            <a:endParaRPr lang="en-US" sz="1350" dirty="0"/>
          </a:p>
        </p:txBody>
      </p:sp>
      <p:sp>
        <p:nvSpPr>
          <p:cNvPr id="30" name="Shape 28"/>
          <p:cNvSpPr/>
          <p:nvPr/>
        </p:nvSpPr>
        <p:spPr>
          <a:xfrm>
            <a:off x="7269480" y="2212848"/>
            <a:ext cx="82296" cy="82296"/>
          </a:xfrm>
          <a:prstGeom prst="roundRect">
            <a:avLst>
              <a:gd name="adj" fmla="val 50000"/>
            </a:avLst>
          </a:prstGeom>
          <a:solidFill>
            <a:srgbClr val="F4B942"/>
          </a:solidFill>
          <a:ln/>
        </p:spPr>
      </p:sp>
      <p:sp>
        <p:nvSpPr>
          <p:cNvPr id="31" name="Text 29"/>
          <p:cNvSpPr txBox="1"/>
          <p:nvPr/>
        </p:nvSpPr>
        <p:spPr>
          <a:xfrm>
            <a:off x="7479792" y="2075688"/>
            <a:ext cx="3840480" cy="365760"/>
          </a:xfrm>
          <a:prstGeom prst="rect">
            <a:avLst/>
          </a:prstGeom>
          <a:noFill/>
          <a:ln/>
        </p:spPr>
        <p:txBody>
          <a:bodyPr wrap="square" lIns="0" tIns="0" rIns="0" bIns="0" rtlCol="0" anchor="ctr"/>
          <a:lstStyle/>
          <a:p>
            <a:pPr marL="0" indent="0">
              <a:lnSpc>
                <a:spcPct val="105000"/>
              </a:lnSpc>
              <a:buNone/>
            </a:pPr>
            <a:r>
              <a:rPr lang="en-US" sz="1000" dirty="0">
                <a:solidFill>
                  <a:srgbClr val="FFFFFF"/>
                </a:solidFill>
                <a:latin typeface="Calibri" pitchFamily="34" charset="0"/>
                <a:ea typeface="Calibri" pitchFamily="34" charset="-122"/>
                <a:cs typeface="Calibri" pitchFamily="34" charset="-120"/>
              </a:rPr>
              <a:t>LDR (Light Dependent Resistor) — sensing element</a:t>
            </a:r>
            <a:endParaRPr lang="en-US" sz="1000" dirty="0"/>
          </a:p>
        </p:txBody>
      </p:sp>
      <p:sp>
        <p:nvSpPr>
          <p:cNvPr id="32" name="Shape 30"/>
          <p:cNvSpPr/>
          <p:nvPr/>
        </p:nvSpPr>
        <p:spPr>
          <a:xfrm>
            <a:off x="7269480" y="2615184"/>
            <a:ext cx="82296" cy="82296"/>
          </a:xfrm>
          <a:prstGeom prst="roundRect">
            <a:avLst>
              <a:gd name="adj" fmla="val 50000"/>
            </a:avLst>
          </a:prstGeom>
          <a:solidFill>
            <a:srgbClr val="F4B942"/>
          </a:solidFill>
          <a:ln/>
        </p:spPr>
      </p:sp>
      <p:sp>
        <p:nvSpPr>
          <p:cNvPr id="33" name="Text 31"/>
          <p:cNvSpPr txBox="1"/>
          <p:nvPr/>
        </p:nvSpPr>
        <p:spPr>
          <a:xfrm>
            <a:off x="7479792" y="2478024"/>
            <a:ext cx="3840480" cy="365760"/>
          </a:xfrm>
          <a:prstGeom prst="rect">
            <a:avLst/>
          </a:prstGeom>
          <a:noFill/>
          <a:ln/>
        </p:spPr>
        <p:txBody>
          <a:bodyPr wrap="square" lIns="0" tIns="0" rIns="0" bIns="0" rtlCol="0" anchor="ctr"/>
          <a:lstStyle/>
          <a:p>
            <a:pPr marL="0" indent="0">
              <a:lnSpc>
                <a:spcPct val="105000"/>
              </a:lnSpc>
              <a:buNone/>
            </a:pPr>
            <a:r>
              <a:rPr lang="en-US" sz="1000" dirty="0">
                <a:solidFill>
                  <a:srgbClr val="FFFFFF"/>
                </a:solidFill>
                <a:latin typeface="Calibri" pitchFamily="34" charset="0"/>
                <a:ea typeface="Calibri" pitchFamily="34" charset="-122"/>
                <a:cs typeface="Calibri" pitchFamily="34" charset="-120"/>
              </a:rPr>
              <a:t>Microcontroller (e.g., Arduino / 8051 / PIC) — control logic</a:t>
            </a:r>
            <a:endParaRPr lang="en-US" sz="1000" dirty="0"/>
          </a:p>
        </p:txBody>
      </p:sp>
      <p:sp>
        <p:nvSpPr>
          <p:cNvPr id="34" name="Shape 32"/>
          <p:cNvSpPr/>
          <p:nvPr/>
        </p:nvSpPr>
        <p:spPr>
          <a:xfrm>
            <a:off x="7269480" y="3017520"/>
            <a:ext cx="82296" cy="82296"/>
          </a:xfrm>
          <a:prstGeom prst="roundRect">
            <a:avLst>
              <a:gd name="adj" fmla="val 50000"/>
            </a:avLst>
          </a:prstGeom>
          <a:solidFill>
            <a:srgbClr val="F4B942"/>
          </a:solidFill>
          <a:ln/>
        </p:spPr>
      </p:sp>
      <p:sp>
        <p:nvSpPr>
          <p:cNvPr id="35" name="Text 33"/>
          <p:cNvSpPr txBox="1"/>
          <p:nvPr/>
        </p:nvSpPr>
        <p:spPr>
          <a:xfrm>
            <a:off x="7479792" y="2880360"/>
            <a:ext cx="3840480" cy="365760"/>
          </a:xfrm>
          <a:prstGeom prst="rect">
            <a:avLst/>
          </a:prstGeom>
          <a:noFill/>
          <a:ln/>
        </p:spPr>
        <p:txBody>
          <a:bodyPr wrap="square" lIns="0" tIns="0" rIns="0" bIns="0" rtlCol="0" anchor="ctr"/>
          <a:lstStyle/>
          <a:p>
            <a:pPr marL="0" indent="0">
              <a:lnSpc>
                <a:spcPct val="105000"/>
              </a:lnSpc>
              <a:buNone/>
            </a:pPr>
            <a:r>
              <a:rPr lang="en-US" sz="1000" dirty="0">
                <a:solidFill>
                  <a:srgbClr val="FFFFFF"/>
                </a:solidFill>
                <a:latin typeface="Calibri" pitchFamily="34" charset="0"/>
                <a:ea typeface="Calibri" pitchFamily="34" charset="-122"/>
                <a:cs typeface="Calibri" pitchFamily="34" charset="-120"/>
              </a:rPr>
              <a:t>Voltage divider resistor — sets sensing bias</a:t>
            </a:r>
            <a:endParaRPr lang="en-US" sz="1000" dirty="0"/>
          </a:p>
        </p:txBody>
      </p:sp>
      <p:sp>
        <p:nvSpPr>
          <p:cNvPr id="36" name="Shape 34"/>
          <p:cNvSpPr/>
          <p:nvPr/>
        </p:nvSpPr>
        <p:spPr>
          <a:xfrm>
            <a:off x="7269480" y="3419856"/>
            <a:ext cx="82296" cy="82296"/>
          </a:xfrm>
          <a:prstGeom prst="roundRect">
            <a:avLst>
              <a:gd name="adj" fmla="val 50000"/>
            </a:avLst>
          </a:prstGeom>
          <a:solidFill>
            <a:srgbClr val="F4B942"/>
          </a:solidFill>
          <a:ln/>
        </p:spPr>
      </p:sp>
      <p:sp>
        <p:nvSpPr>
          <p:cNvPr id="37" name="Text 35"/>
          <p:cNvSpPr txBox="1"/>
          <p:nvPr/>
        </p:nvSpPr>
        <p:spPr>
          <a:xfrm>
            <a:off x="7479792" y="3282696"/>
            <a:ext cx="3840480" cy="365760"/>
          </a:xfrm>
          <a:prstGeom prst="rect">
            <a:avLst/>
          </a:prstGeom>
          <a:noFill/>
          <a:ln/>
        </p:spPr>
        <p:txBody>
          <a:bodyPr wrap="square" lIns="0" tIns="0" rIns="0" bIns="0" rtlCol="0" anchor="ctr"/>
          <a:lstStyle/>
          <a:p>
            <a:pPr marL="0" indent="0">
              <a:lnSpc>
                <a:spcPct val="105000"/>
              </a:lnSpc>
              <a:buNone/>
            </a:pPr>
            <a:r>
              <a:rPr lang="en-US" sz="1000" dirty="0">
                <a:solidFill>
                  <a:srgbClr val="FFFFFF"/>
                </a:solidFill>
                <a:latin typeface="Calibri" pitchFamily="34" charset="0"/>
                <a:ea typeface="Calibri" pitchFamily="34" charset="-122"/>
                <a:cs typeface="Calibri" pitchFamily="34" charset="-120"/>
              </a:rPr>
              <a:t>Comparator (op-amp, e.g., LM358) — threshold detection</a:t>
            </a:r>
            <a:endParaRPr lang="en-US" sz="1000" dirty="0"/>
          </a:p>
        </p:txBody>
      </p:sp>
      <p:sp>
        <p:nvSpPr>
          <p:cNvPr id="38" name="Shape 36"/>
          <p:cNvSpPr/>
          <p:nvPr/>
        </p:nvSpPr>
        <p:spPr>
          <a:xfrm>
            <a:off x="7269480" y="3822192"/>
            <a:ext cx="82296" cy="82296"/>
          </a:xfrm>
          <a:prstGeom prst="roundRect">
            <a:avLst>
              <a:gd name="adj" fmla="val 50000"/>
            </a:avLst>
          </a:prstGeom>
          <a:solidFill>
            <a:srgbClr val="F4B942"/>
          </a:solidFill>
          <a:ln/>
        </p:spPr>
      </p:sp>
      <p:sp>
        <p:nvSpPr>
          <p:cNvPr id="39" name="Text 37"/>
          <p:cNvSpPr txBox="1"/>
          <p:nvPr/>
        </p:nvSpPr>
        <p:spPr>
          <a:xfrm>
            <a:off x="7479792" y="3685032"/>
            <a:ext cx="3840480" cy="365760"/>
          </a:xfrm>
          <a:prstGeom prst="rect">
            <a:avLst/>
          </a:prstGeom>
          <a:noFill/>
          <a:ln/>
        </p:spPr>
        <p:txBody>
          <a:bodyPr wrap="square" lIns="0" tIns="0" rIns="0" bIns="0" rtlCol="0" anchor="ctr"/>
          <a:lstStyle/>
          <a:p>
            <a:pPr marL="0" indent="0">
              <a:lnSpc>
                <a:spcPct val="105000"/>
              </a:lnSpc>
              <a:buNone/>
            </a:pPr>
            <a:r>
              <a:rPr lang="en-US" sz="1000" dirty="0">
                <a:solidFill>
                  <a:srgbClr val="FFFFFF"/>
                </a:solidFill>
                <a:latin typeface="Calibri" pitchFamily="34" charset="0"/>
                <a:ea typeface="Calibri" pitchFamily="34" charset="-122"/>
                <a:cs typeface="Calibri" pitchFamily="34" charset="-120"/>
              </a:rPr>
              <a:t>Relay module / MOSFET driver — power switching</a:t>
            </a:r>
            <a:endParaRPr lang="en-US" sz="1000" dirty="0"/>
          </a:p>
        </p:txBody>
      </p:sp>
      <p:sp>
        <p:nvSpPr>
          <p:cNvPr id="40" name="Shape 38"/>
          <p:cNvSpPr/>
          <p:nvPr/>
        </p:nvSpPr>
        <p:spPr>
          <a:xfrm>
            <a:off x="7269480" y="4224528"/>
            <a:ext cx="82296" cy="82296"/>
          </a:xfrm>
          <a:prstGeom prst="roundRect">
            <a:avLst>
              <a:gd name="adj" fmla="val 50000"/>
            </a:avLst>
          </a:prstGeom>
          <a:solidFill>
            <a:srgbClr val="F4B942"/>
          </a:solidFill>
          <a:ln/>
        </p:spPr>
      </p:sp>
      <p:sp>
        <p:nvSpPr>
          <p:cNvPr id="41" name="Text 39"/>
          <p:cNvSpPr txBox="1"/>
          <p:nvPr/>
        </p:nvSpPr>
        <p:spPr>
          <a:xfrm>
            <a:off x="7479792" y="4087368"/>
            <a:ext cx="3840480" cy="365760"/>
          </a:xfrm>
          <a:prstGeom prst="rect">
            <a:avLst/>
          </a:prstGeom>
          <a:noFill/>
          <a:ln/>
        </p:spPr>
        <p:txBody>
          <a:bodyPr wrap="square" lIns="0" tIns="0" rIns="0" bIns="0" rtlCol="0" anchor="ctr"/>
          <a:lstStyle/>
          <a:p>
            <a:pPr marL="0" indent="0">
              <a:lnSpc>
                <a:spcPct val="105000"/>
              </a:lnSpc>
              <a:buNone/>
            </a:pPr>
            <a:r>
              <a:rPr lang="en-US" sz="1000" dirty="0">
                <a:solidFill>
                  <a:srgbClr val="FFFFFF"/>
                </a:solidFill>
                <a:latin typeface="Calibri" pitchFamily="34" charset="0"/>
                <a:ea typeface="Calibri" pitchFamily="34" charset="-122"/>
                <a:cs typeface="Calibri" pitchFamily="34" charset="-120"/>
              </a:rPr>
              <a:t>LED / lamp — output load representing the street light</a:t>
            </a:r>
            <a:endParaRPr lang="en-US" sz="1000" dirty="0"/>
          </a:p>
        </p:txBody>
      </p:sp>
      <p:sp>
        <p:nvSpPr>
          <p:cNvPr id="42" name="Shape 40"/>
          <p:cNvSpPr/>
          <p:nvPr/>
        </p:nvSpPr>
        <p:spPr>
          <a:xfrm>
            <a:off x="7269480" y="4626864"/>
            <a:ext cx="82296" cy="82296"/>
          </a:xfrm>
          <a:prstGeom prst="roundRect">
            <a:avLst>
              <a:gd name="adj" fmla="val 50000"/>
            </a:avLst>
          </a:prstGeom>
          <a:solidFill>
            <a:srgbClr val="F4B942"/>
          </a:solidFill>
          <a:ln/>
        </p:spPr>
      </p:sp>
      <p:sp>
        <p:nvSpPr>
          <p:cNvPr id="43" name="Text 41"/>
          <p:cNvSpPr txBox="1"/>
          <p:nvPr/>
        </p:nvSpPr>
        <p:spPr>
          <a:xfrm>
            <a:off x="7479792" y="4489704"/>
            <a:ext cx="3840480" cy="365760"/>
          </a:xfrm>
          <a:prstGeom prst="rect">
            <a:avLst/>
          </a:prstGeom>
          <a:noFill/>
          <a:ln/>
        </p:spPr>
        <p:txBody>
          <a:bodyPr wrap="square" lIns="0" tIns="0" rIns="0" bIns="0" rtlCol="0" anchor="ctr"/>
          <a:lstStyle/>
          <a:p>
            <a:pPr marL="0" indent="0">
              <a:lnSpc>
                <a:spcPct val="105000"/>
              </a:lnSpc>
              <a:buNone/>
            </a:pPr>
            <a:r>
              <a:rPr lang="en-US" sz="1000" dirty="0">
                <a:solidFill>
                  <a:srgbClr val="FFFFFF"/>
                </a:solidFill>
                <a:latin typeface="Calibri" pitchFamily="34" charset="0"/>
                <a:ea typeface="Calibri" pitchFamily="34" charset="-122"/>
                <a:cs typeface="Calibri" pitchFamily="34" charset="-120"/>
              </a:rPr>
              <a:t>Regulated power supply — 5V/12V system power</a:t>
            </a:r>
            <a:endParaRPr lang="en-US" sz="1000" dirty="0"/>
          </a:p>
        </p:txBody>
      </p:sp>
      <p:sp>
        <p:nvSpPr>
          <p:cNvPr id="44" name="Text 42"/>
          <p:cNvSpPr txBox="1"/>
          <p:nvPr/>
        </p:nvSpPr>
        <p:spPr>
          <a:xfrm>
            <a:off x="7269480" y="5084064"/>
            <a:ext cx="3931920" cy="1051560"/>
          </a:xfrm>
          <a:prstGeom prst="rect">
            <a:avLst/>
          </a:prstGeom>
          <a:noFill/>
          <a:ln/>
        </p:spPr>
        <p:txBody>
          <a:bodyPr wrap="square" lIns="0" tIns="0" rIns="0" bIns="0" rtlCol="0" anchor="ctr"/>
          <a:lstStyle/>
          <a:p>
            <a:pPr marL="0" indent="0">
              <a:lnSpc>
                <a:spcPct val="115000"/>
              </a:lnSpc>
              <a:buNone/>
            </a:pPr>
            <a:r>
              <a:rPr lang="en-US" sz="900" i="1" dirty="0">
                <a:solidFill>
                  <a:srgbClr val="CADCFC"/>
                </a:solidFill>
                <a:latin typeface="Calibri" pitchFamily="34" charset="0"/>
                <a:ea typeface="Calibri" pitchFamily="34" charset="-122"/>
                <a:cs typeface="Calibri" pitchFamily="34" charset="-120"/>
              </a:rPr>
              <a:t>Working Principle: while the LDR resistance is low (daylight), the divider output keeps the controller input above threshold and the relay stays open. As darkness increases LDR resistance, the input crosses threshold and the controller energizes the relay to switch the light ON.</a:t>
            </a:r>
            <a:endParaRPr lang="en-US" sz="900" dirty="0"/>
          </a:p>
        </p:txBody>
      </p:sp>
      <p:sp>
        <p:nvSpPr>
          <p:cNvPr id="45" name="Text 43"/>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9AA3B8"/>
                </a:solidFill>
                <a:latin typeface="Calibri" pitchFamily="34" charset="0"/>
                <a:ea typeface="Calibri" pitchFamily="34" charset="-122"/>
                <a:cs typeface="Calibri" pitchFamily="34" charset="-120"/>
              </a:rPr>
              <a:t>Automatic Street Light Control System</a:t>
            </a:r>
            <a:endParaRPr lang="en-US" sz="900" dirty="0"/>
          </a:p>
        </p:txBody>
      </p:sp>
      <p:sp>
        <p:nvSpPr>
          <p:cNvPr id="46" name="Text 44"/>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C98F1E"/>
                </a:solidFill>
                <a:latin typeface="Calibri" pitchFamily="34" charset="0"/>
                <a:ea typeface="Calibri" pitchFamily="34" charset="-122"/>
                <a:cs typeface="Calibri" pitchFamily="34" charset="-120"/>
              </a:rPr>
              <a:t>08 · RESULTS &amp; DISCUSSION</a:t>
            </a:r>
            <a:endParaRPr lang="en-US" sz="1300" dirty="0"/>
          </a:p>
        </p:txBody>
      </p:sp>
      <p:sp>
        <p:nvSpPr>
          <p:cNvPr id="3" name="Text 1"/>
          <p:cNvSpPr txBox="1"/>
          <p:nvPr/>
        </p:nvSpPr>
        <p:spPr>
          <a:xfrm>
            <a:off x="640080" y="713232"/>
            <a:ext cx="9144000" cy="640080"/>
          </a:xfrm>
          <a:prstGeom prst="rect">
            <a:avLst/>
          </a:prstGeom>
          <a:noFill/>
          <a:ln/>
        </p:spPr>
        <p:txBody>
          <a:bodyPr wrap="square" lIns="0" tIns="0" rIns="0" bIns="0" rtlCol="0" anchor="ctr"/>
          <a:lstStyle/>
          <a:p>
            <a:pPr marL="0" indent="0">
              <a:buNone/>
            </a:pPr>
            <a:r>
              <a:rPr lang="en-US" sz="3400" b="1" dirty="0">
                <a:solidFill>
                  <a:srgbClr val="1B2A4A"/>
                </a:solidFill>
                <a:latin typeface="Cambria" pitchFamily="34" charset="0"/>
                <a:ea typeface="Cambria" pitchFamily="34" charset="-122"/>
                <a:cs typeface="Cambria" pitchFamily="34" charset="-120"/>
              </a:rPr>
              <a:t>Results and Discussion</a:t>
            </a:r>
            <a:endParaRPr lang="en-US" sz="3400" dirty="0"/>
          </a:p>
        </p:txBody>
      </p:sp>
      <p:sp>
        <p:nvSpPr>
          <p:cNvPr id="4" name="Text 2"/>
          <p:cNvSpPr txBox="1"/>
          <p:nvPr/>
        </p:nvSpPr>
        <p:spPr>
          <a:xfrm>
            <a:off x="640080" y="1508760"/>
            <a:ext cx="521208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Truth Table — LDR vs. Street Light State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212080" cy="1920240"/>
        </p:xfrm>
        <a:graphic>
          <a:graphicData uri="http://schemas.openxmlformats.org/drawingml/2006/table">
            <a:tbl>
              <a:tblPr/>
              <a:tblGrid>
                <a:gridCol w="14173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1148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Ambient Light</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1B2A4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LDR Resistance</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1B2A4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Controller Input</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1B2A4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Light Output</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Bright (Day)</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Dim (Dusk)</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Rising</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Near Threshold</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OFF → ON transition</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1F4FB"/>
                    </a:solidFill>
                  </a:tcPr>
                </a:tc>
                <a:extLst>
                  <a:ext uri="{0D108BD9-81ED-4DB2-BD59-A6C34878D82A}">
                    <a16:rowId xmlns:a16="http://schemas.microsoft.com/office/drawing/2014/main" val="10002"/>
                  </a:ext>
                </a:extLst>
              </a:tr>
              <a:tr h="502920">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Dark (Night)</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tc>
                  <a:txBody>
                    <a:bodyPr/>
                    <a:lstStyle/>
                    <a:p>
                      <a:pPr marL="0" indent="0">
                        <a:buNone/>
                      </a:pPr>
                      <a:r>
                        <a:rPr lang="en-US" sz="1050" dirty="0">
                          <a:solidFill>
                            <a:srgbClr val="1B2A4A"/>
                          </a:solidFill>
                          <a:latin typeface="Calibri" pitchFamily="34" charset="0"/>
                          <a:ea typeface="Calibri" pitchFamily="34" charset="-122"/>
                          <a:cs typeface="Calibri" pitchFamily="34" charset="-120"/>
                        </a:rPr>
                        <a:t>ON</a:t>
                      </a:r>
                      <a:endParaRPr lang="en-US" sz="1050" dirty="0">
                        <a:latin typeface="Calibri" charset="0"/>
                        <a:ea typeface="Calibri" charset="0"/>
                        <a:cs typeface="Calibri" charset="0"/>
                      </a:endParaRPr>
                    </a:p>
                  </a:txBody>
                  <a:tcPr marL="73152" marR="73152" marT="54864" marB="54864" anchor="ctr">
                    <a:lnL w="12700" cap="flat" cmpd="sng" algn="ctr">
                      <a:solidFill>
                        <a:srgbClr val="E3E7F1"/>
                      </a:solidFill>
                      <a:prstDash val="solid"/>
                      <a:round/>
                      <a:headEnd type="none" w="med" len="med"/>
                      <a:tailEnd type="none" w="med" len="med"/>
                    </a:lnL>
                    <a:lnR w="12700" cap="flat" cmpd="sng" algn="ctr">
                      <a:solidFill>
                        <a:srgbClr val="E3E7F1"/>
                      </a:solidFill>
                      <a:prstDash val="solid"/>
                      <a:round/>
                      <a:headEnd type="none" w="med" len="med"/>
                      <a:tailEnd type="none" w="med" len="med"/>
                    </a:lnR>
                    <a:lnT w="12700" cap="flat" cmpd="sng" algn="ctr">
                      <a:solidFill>
                        <a:srgbClr val="E3E7F1"/>
                      </a:solidFill>
                      <a:prstDash val="solid"/>
                      <a:round/>
                      <a:headEnd type="none" w="med" len="med"/>
                      <a:tailEnd type="none" w="med" len="med"/>
                    </a:lnT>
                    <a:lnB w="12700" cap="flat" cmpd="sng" algn="ctr">
                      <a:solidFill>
                        <a:srgbClr val="E3E7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640080" y="4069080"/>
            <a:ext cx="5212080" cy="1965960"/>
          </a:xfrm>
          <a:prstGeom prst="roundRect">
            <a:avLst>
              <a:gd name="adj" fmla="val 4651"/>
            </a:avLst>
          </a:prstGeom>
          <a:solidFill>
            <a:srgbClr val="1B2A4A"/>
          </a:solidFill>
          <a:ln w="12700">
            <a:solidFill>
              <a:srgbClr val="3A4C7A"/>
            </a:solidFill>
            <a:prstDash val="solid"/>
          </a:ln>
        </p:spPr>
      </p:sp>
      <p:sp>
        <p:nvSpPr>
          <p:cNvPr id="7" name="Shape 4"/>
          <p:cNvSpPr/>
          <p:nvPr/>
        </p:nvSpPr>
        <p:spPr>
          <a:xfrm>
            <a:off x="868680" y="4251960"/>
            <a:ext cx="502920" cy="502920"/>
          </a:xfrm>
          <a:prstGeom prst="ellipse">
            <a:avLst/>
          </a:prstGeom>
          <a:solidFill>
            <a:srgbClr val="273B66"/>
          </a:solidFill>
          <a:ln/>
        </p:spPr>
      </p:sp>
      <p:pic>
        <p:nvPicPr>
          <p:cNvPr id="8" name="Image 0" descr="/home/claude/streetlight_ppt/icon_chart_amber.png"/>
          <p:cNvPicPr>
            <a:picLocks noChangeAspect="1"/>
          </p:cNvPicPr>
          <p:nvPr/>
        </p:nvPicPr>
        <p:blipFill>
          <a:blip r:embed="rId3"/>
          <a:stretch>
            <a:fillRect/>
          </a:stretch>
        </p:blipFill>
        <p:spPr>
          <a:xfrm>
            <a:off x="969264" y="4352544"/>
            <a:ext cx="301752" cy="301752"/>
          </a:xfrm>
          <a:prstGeom prst="rect">
            <a:avLst/>
          </a:prstGeom>
        </p:spPr>
      </p:pic>
      <p:sp>
        <p:nvSpPr>
          <p:cNvPr id="9" name="Text 5"/>
          <p:cNvSpPr txBox="1"/>
          <p:nvPr/>
        </p:nvSpPr>
        <p:spPr>
          <a:xfrm>
            <a:off x="1508760" y="4279392"/>
            <a:ext cx="41148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Simulation Output</a:t>
            </a:r>
            <a:endParaRPr lang="en-US" sz="1250" dirty="0"/>
          </a:p>
        </p:txBody>
      </p:sp>
      <p:sp>
        <p:nvSpPr>
          <p:cNvPr id="5" name="Text 6"/>
          <p:cNvSpPr txBox="1"/>
          <p:nvPr/>
        </p:nvSpPr>
        <p:spPr>
          <a:xfrm>
            <a:off x="868680" y="4800600"/>
            <a:ext cx="4754880" cy="1097280"/>
          </a:xfrm>
          <a:prstGeom prst="rect">
            <a:avLst/>
          </a:prstGeom>
          <a:noFill/>
          <a:ln/>
        </p:spPr>
        <p:txBody>
          <a:bodyPr wrap="square" lIns="0" tIns="0" rIns="0" bIns="0" rtlCol="0" anchor="ctr"/>
          <a:lstStyle/>
          <a:p>
            <a:pPr marL="0" indent="0">
              <a:lnSpc>
                <a:spcPct val="120000"/>
              </a:lnSpc>
              <a:buNone/>
            </a:pPr>
            <a:r>
              <a:rPr lang="en-US" sz="1000" i="1" dirty="0">
                <a:solidFill>
                  <a:srgbClr val="CADCFC"/>
                </a:solidFill>
                <a:latin typeface="Calibri" pitchFamily="34" charset="0"/>
                <a:ea typeface="Calibri" pitchFamily="34" charset="-122"/>
                <a:cs typeface="Calibri" pitchFamily="34" charset="-120"/>
              </a:rPr>
              <a:t>[Insert Proteus / simulation screenshot here showing the circuit in day-state (light OFF) and night-state (light ON)]</a:t>
            </a:r>
            <a:endParaRPr lang="en-US" sz="1000" dirty="0"/>
          </a:p>
        </p:txBody>
      </p:sp>
      <p:sp>
        <p:nvSpPr>
          <p:cNvPr id="11" name="Shape 7"/>
          <p:cNvSpPr/>
          <p:nvPr/>
        </p:nvSpPr>
        <p:spPr>
          <a:xfrm>
            <a:off x="6172200" y="1508760"/>
            <a:ext cx="5349240" cy="2148840"/>
          </a:xfrm>
          <a:prstGeom prst="roundRect">
            <a:avLst>
              <a:gd name="adj" fmla="val 4255"/>
            </a:avLst>
          </a:prstGeom>
          <a:solidFill>
            <a:srgbClr val="FFFFFF"/>
          </a:solidFill>
          <a:ln w="12700">
            <a:solidFill>
              <a:srgbClr val="E3E7F1"/>
            </a:solidFill>
            <a:prstDash val="solid"/>
          </a:ln>
        </p:spPr>
      </p:sp>
      <p:sp>
        <p:nvSpPr>
          <p:cNvPr id="12" name="Text 8"/>
          <p:cNvSpPr txBox="1"/>
          <p:nvPr/>
        </p:nvSpPr>
        <p:spPr>
          <a:xfrm>
            <a:off x="6400800" y="1645920"/>
            <a:ext cx="4846320" cy="32004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Discussion</a:t>
            </a:r>
            <a:endParaRPr lang="en-US" sz="1350" dirty="0"/>
          </a:p>
        </p:txBody>
      </p:sp>
      <p:sp>
        <p:nvSpPr>
          <p:cNvPr id="13" name="Text 9"/>
          <p:cNvSpPr txBox="1"/>
          <p:nvPr/>
        </p:nvSpPr>
        <p:spPr>
          <a:xfrm>
            <a:off x="6400800" y="2011680"/>
            <a:ext cx="4892040" cy="1554480"/>
          </a:xfrm>
          <a:prstGeom prst="rect">
            <a:avLst/>
          </a:prstGeom>
          <a:noFill/>
          <a:ln/>
        </p:spPr>
        <p:txBody>
          <a:bodyPr wrap="square" lIns="0" tIns="0" rIns="0" bIns="0" rtlCol="0" anchor="ctr"/>
          <a:lstStyle/>
          <a:p>
            <a:pPr marL="0" indent="0">
              <a:lnSpc>
                <a:spcPct val="125000"/>
              </a:lnSpc>
              <a:buNone/>
            </a:pPr>
            <a:r>
              <a:rPr lang="en-US" sz="1100" dirty="0">
                <a:solidFill>
                  <a:srgbClr val="4A5568"/>
                </a:solidFill>
                <a:latin typeface="Calibri" pitchFamily="34" charset="0"/>
                <a:ea typeface="Calibri" pitchFamily="34" charset="-122"/>
                <a:cs typeface="Calibri" pitchFamily="34" charset="-120"/>
              </a:rPr>
              <a:t>• The simulated circuit correctly switched the load ON as the LDR crossed the pre-set darkness threshold, and OFF as light levels rose.
• Response was near-instantaneous in simulation, with no false triggering under stable lighting.
• Results confirm the design meets the stated objectives of automatic, threshold-based control.</a:t>
            </a:r>
            <a:endParaRPr lang="en-US" sz="1100" dirty="0"/>
          </a:p>
        </p:txBody>
      </p:sp>
      <p:sp>
        <p:nvSpPr>
          <p:cNvPr id="14" name="Shape 10"/>
          <p:cNvSpPr/>
          <p:nvPr/>
        </p:nvSpPr>
        <p:spPr>
          <a:xfrm>
            <a:off x="6172200" y="3886200"/>
            <a:ext cx="2560320" cy="1417320"/>
          </a:xfrm>
          <a:prstGeom prst="roundRect">
            <a:avLst>
              <a:gd name="adj" fmla="val 6452"/>
            </a:avLst>
          </a:prstGeom>
          <a:solidFill>
            <a:srgbClr val="FFF4DD"/>
          </a:solidFill>
          <a:ln w="12700">
            <a:solidFill>
              <a:srgbClr val="F4B942"/>
            </a:solidFill>
            <a:prstDash val="solid"/>
          </a:ln>
        </p:spPr>
      </p:sp>
      <p:sp>
        <p:nvSpPr>
          <p:cNvPr id="15" name="Text 11"/>
          <p:cNvSpPr txBox="1"/>
          <p:nvPr/>
        </p:nvSpPr>
        <p:spPr>
          <a:xfrm>
            <a:off x="6172200" y="4023360"/>
            <a:ext cx="2560320" cy="548640"/>
          </a:xfrm>
          <a:prstGeom prst="rect">
            <a:avLst/>
          </a:prstGeom>
          <a:noFill/>
          <a:ln/>
        </p:spPr>
        <p:txBody>
          <a:bodyPr wrap="square" lIns="0" tIns="0" rIns="0" bIns="0" rtlCol="0" anchor="ctr"/>
          <a:lstStyle/>
          <a:p>
            <a:pPr marL="0" indent="0" algn="ctr">
              <a:buNone/>
            </a:pPr>
            <a:r>
              <a:rPr lang="en-US" sz="2600" b="1" dirty="0">
                <a:solidFill>
                  <a:srgbClr val="C98F1E"/>
                </a:solidFill>
                <a:latin typeface="Cambria" pitchFamily="34" charset="0"/>
                <a:ea typeface="Cambria" pitchFamily="34" charset="-122"/>
                <a:cs typeface="Cambria" pitchFamily="34" charset="-120"/>
              </a:rPr>
              <a:t>~30–40%</a:t>
            </a:r>
            <a:endParaRPr lang="en-US" sz="2600" dirty="0"/>
          </a:p>
        </p:txBody>
      </p:sp>
      <p:sp>
        <p:nvSpPr>
          <p:cNvPr id="16" name="Text 12"/>
          <p:cNvSpPr txBox="1"/>
          <p:nvPr/>
        </p:nvSpPr>
        <p:spPr>
          <a:xfrm>
            <a:off x="6309360" y="4572000"/>
            <a:ext cx="2286000" cy="640080"/>
          </a:xfrm>
          <a:prstGeom prst="rect">
            <a:avLst/>
          </a:prstGeom>
          <a:noFill/>
          <a:ln/>
        </p:spPr>
        <p:txBody>
          <a:bodyPr wrap="square" lIns="0" tIns="0" rIns="0" bIns="0" rtlCol="0" anchor="ctr"/>
          <a:lstStyle/>
          <a:p>
            <a:pPr marL="0" indent="0" algn="ctr">
              <a:lnSpc>
                <a:spcPct val="115000"/>
              </a:lnSpc>
              <a:buNone/>
            </a:pPr>
            <a:r>
              <a:rPr lang="en-US" sz="1000" dirty="0">
                <a:solidFill>
                  <a:srgbClr val="1B2A4A"/>
                </a:solidFill>
                <a:latin typeface="Calibri" pitchFamily="34" charset="0"/>
                <a:ea typeface="Calibri" pitchFamily="34" charset="-122"/>
                <a:cs typeface="Calibri" pitchFamily="34" charset="-120"/>
              </a:rPr>
              <a:t>Est. energy saving</a:t>
            </a:r>
            <a:endParaRPr lang="en-US" sz="1000" dirty="0"/>
          </a:p>
          <a:p>
            <a:pPr marL="0" indent="0" algn="ctr">
              <a:lnSpc>
                <a:spcPct val="115000"/>
              </a:lnSpc>
              <a:buNone/>
            </a:pPr>
            <a:r>
              <a:rPr lang="en-US" sz="1000" dirty="0">
                <a:solidFill>
                  <a:srgbClr val="1B2A4A"/>
                </a:solidFill>
                <a:latin typeface="Calibri" pitchFamily="34" charset="0"/>
                <a:ea typeface="Calibri" pitchFamily="34" charset="-122"/>
                <a:cs typeface="Calibri" pitchFamily="34" charset="-120"/>
              </a:rPr>
              <a:t>vs. fixed-timer operation</a:t>
            </a:r>
            <a:endParaRPr lang="en-US" sz="1000" dirty="0"/>
          </a:p>
        </p:txBody>
      </p:sp>
      <p:sp>
        <p:nvSpPr>
          <p:cNvPr id="17" name="Shape 13"/>
          <p:cNvSpPr/>
          <p:nvPr/>
        </p:nvSpPr>
        <p:spPr>
          <a:xfrm>
            <a:off x="8915400" y="3886200"/>
            <a:ext cx="2560320" cy="1417320"/>
          </a:xfrm>
          <a:prstGeom prst="roundRect">
            <a:avLst>
              <a:gd name="adj" fmla="val 6452"/>
            </a:avLst>
          </a:prstGeom>
          <a:solidFill>
            <a:srgbClr val="FFF4DD"/>
          </a:solidFill>
          <a:ln w="12700">
            <a:solidFill>
              <a:srgbClr val="F4B942"/>
            </a:solidFill>
            <a:prstDash val="solid"/>
          </a:ln>
        </p:spPr>
      </p:sp>
      <p:sp>
        <p:nvSpPr>
          <p:cNvPr id="18" name="Text 14"/>
          <p:cNvSpPr txBox="1"/>
          <p:nvPr/>
        </p:nvSpPr>
        <p:spPr>
          <a:xfrm>
            <a:off x="8915400" y="4023360"/>
            <a:ext cx="2560320" cy="548640"/>
          </a:xfrm>
          <a:prstGeom prst="rect">
            <a:avLst/>
          </a:prstGeom>
          <a:noFill/>
          <a:ln/>
        </p:spPr>
        <p:txBody>
          <a:bodyPr wrap="square" lIns="0" tIns="0" rIns="0" bIns="0" rtlCol="0" anchor="ctr"/>
          <a:lstStyle/>
          <a:p>
            <a:pPr marL="0" indent="0" algn="ctr">
              <a:buNone/>
            </a:pPr>
            <a:r>
              <a:rPr lang="en-US" sz="2600" b="1" dirty="0">
                <a:solidFill>
                  <a:srgbClr val="C98F1E"/>
                </a:solidFill>
                <a:latin typeface="Cambria" pitchFamily="34" charset="0"/>
                <a:ea typeface="Cambria" pitchFamily="34" charset="-122"/>
                <a:cs typeface="Cambria" pitchFamily="34" charset="-120"/>
              </a:rPr>
              <a:t>&lt; 1s</a:t>
            </a:r>
            <a:endParaRPr lang="en-US" sz="2600" dirty="0"/>
          </a:p>
        </p:txBody>
      </p:sp>
      <p:sp>
        <p:nvSpPr>
          <p:cNvPr id="19" name="Text 15"/>
          <p:cNvSpPr txBox="1"/>
          <p:nvPr/>
        </p:nvSpPr>
        <p:spPr>
          <a:xfrm>
            <a:off x="9052560" y="4572000"/>
            <a:ext cx="2286000" cy="640080"/>
          </a:xfrm>
          <a:prstGeom prst="rect">
            <a:avLst/>
          </a:prstGeom>
          <a:noFill/>
          <a:ln/>
        </p:spPr>
        <p:txBody>
          <a:bodyPr wrap="square" lIns="0" tIns="0" rIns="0" bIns="0" rtlCol="0" anchor="ctr"/>
          <a:lstStyle/>
          <a:p>
            <a:pPr marL="0" indent="0" algn="ctr">
              <a:lnSpc>
                <a:spcPct val="115000"/>
              </a:lnSpc>
              <a:buNone/>
            </a:pPr>
            <a:r>
              <a:rPr lang="en-US" sz="1000" dirty="0">
                <a:solidFill>
                  <a:srgbClr val="1B2A4A"/>
                </a:solidFill>
                <a:latin typeface="Calibri" pitchFamily="34" charset="0"/>
                <a:ea typeface="Calibri" pitchFamily="34" charset="-122"/>
                <a:cs typeface="Calibri" pitchFamily="34" charset="-120"/>
              </a:rPr>
              <a:t>Simulated switching</a:t>
            </a:r>
            <a:endParaRPr lang="en-US" sz="1000" dirty="0"/>
          </a:p>
          <a:p>
            <a:pPr marL="0" indent="0" algn="ctr">
              <a:lnSpc>
                <a:spcPct val="115000"/>
              </a:lnSpc>
              <a:buNone/>
            </a:pPr>
            <a:r>
              <a:rPr lang="en-US" sz="1000" dirty="0">
                <a:solidFill>
                  <a:srgbClr val="1B2A4A"/>
                </a:solidFill>
                <a:latin typeface="Calibri" pitchFamily="34" charset="0"/>
                <a:ea typeface="Calibri" pitchFamily="34" charset="-122"/>
                <a:cs typeface="Calibri" pitchFamily="34" charset="-120"/>
              </a:rPr>
              <a:t>response time</a:t>
            </a:r>
            <a:endParaRPr lang="en-US" sz="1000" dirty="0"/>
          </a:p>
        </p:txBody>
      </p:sp>
      <p:sp>
        <p:nvSpPr>
          <p:cNvPr id="20" name="Text 16"/>
          <p:cNvSpPr txBox="1"/>
          <p:nvPr/>
        </p:nvSpPr>
        <p:spPr>
          <a:xfrm>
            <a:off x="6172200" y="5440680"/>
            <a:ext cx="5349240" cy="548640"/>
          </a:xfrm>
          <a:prstGeom prst="rect">
            <a:avLst/>
          </a:prstGeom>
          <a:noFill/>
          <a:ln/>
        </p:spPr>
        <p:txBody>
          <a:bodyPr wrap="square" lIns="0" tIns="0" rIns="0" bIns="0" rtlCol="0" anchor="ctr"/>
          <a:lstStyle/>
          <a:p>
            <a:pPr marL="0" indent="0">
              <a:buNone/>
            </a:pPr>
            <a:r>
              <a:rPr lang="en-US" sz="900" i="1" dirty="0">
                <a:solidFill>
                  <a:srgbClr val="8A97B8"/>
                </a:solidFill>
                <a:latin typeface="Calibri" pitchFamily="34" charset="0"/>
                <a:ea typeface="Calibri" pitchFamily="34" charset="-122"/>
                <a:cs typeface="Calibri" pitchFamily="34" charset="-120"/>
              </a:rPr>
              <a:t>Figures are illustrative — replace with values recorded from your own simulation runs.</a:t>
            </a:r>
            <a:endParaRPr lang="en-US" sz="900" dirty="0"/>
          </a:p>
        </p:txBody>
      </p:sp>
      <p:sp>
        <p:nvSpPr>
          <p:cNvPr id="21" name="Text 17"/>
          <p:cNvSpPr txBox="1"/>
          <p:nvPr/>
        </p:nvSpPr>
        <p:spPr>
          <a:xfrm>
            <a:off x="457200" y="6492240"/>
            <a:ext cx="6400800" cy="274320"/>
          </a:xfrm>
          <a:prstGeom prst="rect">
            <a:avLst/>
          </a:prstGeom>
          <a:noFill/>
          <a:ln/>
        </p:spPr>
        <p:txBody>
          <a:bodyPr wrap="square" lIns="0" tIns="0" rIns="0" bIns="0" rtlCol="0" anchor="ctr"/>
          <a:lstStyle/>
          <a:p>
            <a:pPr marL="0" indent="0">
              <a:buNone/>
            </a:pPr>
            <a:r>
              <a:rPr lang="en-US" sz="900" i="1" dirty="0">
                <a:solidFill>
                  <a:srgbClr val="9AA3B8"/>
                </a:solidFill>
                <a:latin typeface="Calibri" pitchFamily="34" charset="0"/>
                <a:ea typeface="Calibri" pitchFamily="34" charset="-122"/>
                <a:cs typeface="Calibri" pitchFamily="34" charset="-120"/>
              </a:rPr>
              <a:t>Automatic Street Light Control System</a:t>
            </a:r>
            <a:endParaRPr lang="en-US" sz="900" dirty="0"/>
          </a:p>
        </p:txBody>
      </p:sp>
      <p:sp>
        <p:nvSpPr>
          <p:cNvPr id="22" name="Text 18"/>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020EE-F979-0447-3C4D-EE4551BB8A49}"/>
              </a:ext>
            </a:extLst>
          </p:cNvPr>
          <p:cNvPicPr>
            <a:picLocks noChangeAspect="1"/>
          </p:cNvPicPr>
          <p:nvPr/>
        </p:nvPicPr>
        <p:blipFill>
          <a:blip r:embed="rId2"/>
          <a:stretch>
            <a:fillRect/>
          </a:stretch>
        </p:blipFill>
        <p:spPr>
          <a:xfrm>
            <a:off x="3170299" y="2682175"/>
            <a:ext cx="5608806" cy="1493649"/>
          </a:xfrm>
          <a:prstGeom prst="rect">
            <a:avLst/>
          </a:prstGeom>
        </p:spPr>
      </p:pic>
      <p:sp>
        <p:nvSpPr>
          <p:cNvPr id="8" name="TextBox 7">
            <a:extLst>
              <a:ext uri="{FF2B5EF4-FFF2-40B4-BE49-F238E27FC236}">
                <a16:creationId xmlns:a16="http://schemas.microsoft.com/office/drawing/2014/main" id="{DA08B3BE-FA86-8281-3C57-92B5703D3103}"/>
              </a:ext>
            </a:extLst>
          </p:cNvPr>
          <p:cNvSpPr txBox="1"/>
          <p:nvPr/>
        </p:nvSpPr>
        <p:spPr>
          <a:xfrm>
            <a:off x="3825551" y="727788"/>
            <a:ext cx="3750906" cy="1446550"/>
          </a:xfrm>
          <a:prstGeom prst="rect">
            <a:avLst/>
          </a:prstGeom>
          <a:noFill/>
        </p:spPr>
        <p:txBody>
          <a:bodyPr wrap="square" rtlCol="0">
            <a:spAutoFit/>
          </a:bodyPr>
          <a:lstStyle/>
          <a:p>
            <a:pPr algn="ctr"/>
            <a:r>
              <a:rPr lang="en-US" sz="4400" dirty="0"/>
              <a:t>CIRCUIT    DIAGRAM</a:t>
            </a:r>
          </a:p>
        </p:txBody>
      </p:sp>
    </p:spTree>
    <p:extLst>
      <p:ext uri="{BB962C8B-B14F-4D97-AF65-F5344CB8AC3E}">
        <p14:creationId xmlns:p14="http://schemas.microsoft.com/office/powerpoint/2010/main" val="240175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21B33"/>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F4B942">
              <a:alpha val="8000"/>
            </a:srgbClr>
          </a:solidFill>
          <a:ln/>
        </p:spPr>
      </p:sp>
      <p:sp>
        <p:nvSpPr>
          <p:cNvPr id="3" name="Shape 1"/>
          <p:cNvSpPr/>
          <p:nvPr/>
        </p:nvSpPr>
        <p:spPr>
          <a:xfrm>
            <a:off x="-914400" y="4572000"/>
            <a:ext cx="3657600" cy="3657600"/>
          </a:xfrm>
          <a:prstGeom prst="ellipse">
            <a:avLst/>
          </a:prstGeom>
          <a:solidFill>
            <a:srgbClr val="F4B942">
              <a:alpha val="14000"/>
            </a:srgbClr>
          </a:solidFill>
          <a:ln/>
        </p:spPr>
      </p:sp>
      <p:sp>
        <p:nvSpPr>
          <p:cNvPr id="4" name="Text 2"/>
          <p:cNvSpPr txBox="1"/>
          <p:nvPr/>
        </p:nvSpPr>
        <p:spPr>
          <a:xfrm>
            <a:off x="640080" y="384048"/>
            <a:ext cx="7315200" cy="365760"/>
          </a:xfrm>
          <a:prstGeom prst="rect">
            <a:avLst/>
          </a:prstGeom>
          <a:noFill/>
          <a:ln/>
        </p:spPr>
        <p:txBody>
          <a:bodyPr wrap="square" lIns="0" tIns="0" rIns="0" bIns="0" rtlCol="0" anchor="ctr"/>
          <a:lstStyle/>
          <a:p>
            <a:pPr marL="0" indent="0">
              <a:buNone/>
            </a:pPr>
            <a:r>
              <a:rPr lang="en-US" sz="1300" b="1" kern="0" spc="200" dirty="0">
                <a:solidFill>
                  <a:srgbClr val="F4B942"/>
                </a:solidFill>
                <a:latin typeface="Calibri" pitchFamily="34" charset="0"/>
                <a:ea typeface="Calibri" pitchFamily="34" charset="-122"/>
                <a:cs typeface="Calibri" pitchFamily="34" charset="-120"/>
              </a:rPr>
              <a:t>09 · CONCLUSION</a:t>
            </a:r>
            <a:endParaRPr lang="en-US" sz="1300" dirty="0"/>
          </a:p>
        </p:txBody>
      </p:sp>
      <p:sp>
        <p:nvSpPr>
          <p:cNvPr id="5" name="Text 3"/>
          <p:cNvSpPr txBox="1"/>
          <p:nvPr/>
        </p:nvSpPr>
        <p:spPr>
          <a:xfrm>
            <a:off x="640080" y="713232"/>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6" name="Text 4"/>
          <p:cNvSpPr txBox="1"/>
          <p:nvPr/>
        </p:nvSpPr>
        <p:spPr>
          <a:xfrm>
            <a:off x="640080" y="1554480"/>
            <a:ext cx="10881360" cy="777240"/>
          </a:xfrm>
          <a:prstGeom prst="rect">
            <a:avLst/>
          </a:prstGeom>
          <a:noFill/>
          <a:ln/>
        </p:spPr>
        <p:txBody>
          <a:bodyPr wrap="square" lIns="0" tIns="0" rIns="0" bIns="0" rtlCol="0" anchor="ctr"/>
          <a:lstStyle/>
          <a:p>
            <a:pPr marL="0" indent="0">
              <a:lnSpc>
                <a:spcPct val="130000"/>
              </a:lnSpc>
              <a:buNone/>
            </a:pPr>
            <a:r>
              <a:rPr lang="en-US" sz="1450" dirty="0">
                <a:solidFill>
                  <a:srgbClr val="CADCFC"/>
                </a:solidFill>
                <a:latin typeface="Calibri" pitchFamily="34" charset="0"/>
                <a:ea typeface="Calibri" pitchFamily="34" charset="-122"/>
                <a:cs typeface="Calibri" pitchFamily="34" charset="-120"/>
              </a:rPr>
              <a:t>The project successfully designed and simulated an Automatic Street Light Control System that replaces inefficient fixed-timer lighting with intelligent, sensor-driven, microcontroller-based switching.</a:t>
            </a:r>
            <a:endParaRPr lang="en-US" sz="1450" dirty="0"/>
          </a:p>
        </p:txBody>
      </p:sp>
      <p:sp>
        <p:nvSpPr>
          <p:cNvPr id="7" name="Shape 5"/>
          <p:cNvSpPr/>
          <p:nvPr/>
        </p:nvSpPr>
        <p:spPr>
          <a:xfrm>
            <a:off x="640080" y="2606040"/>
            <a:ext cx="548640" cy="548640"/>
          </a:xfrm>
          <a:prstGeom prst="ellipse">
            <a:avLst/>
          </a:prstGeom>
          <a:solidFill>
            <a:srgbClr val="F4B942"/>
          </a:solidFill>
          <a:ln/>
        </p:spPr>
      </p:sp>
      <p:pic>
        <p:nvPicPr>
          <p:cNvPr id="8" name="Image 0" descr="/home/claude/streetlight_ppt/icon_check_navy.png"/>
          <p:cNvPicPr>
            <a:picLocks noChangeAspect="1"/>
          </p:cNvPicPr>
          <p:nvPr/>
        </p:nvPicPr>
        <p:blipFill>
          <a:blip r:embed="rId3"/>
          <a:stretch>
            <a:fillRect/>
          </a:stretch>
        </p:blipFill>
        <p:spPr>
          <a:xfrm>
            <a:off x="754380" y="2720340"/>
            <a:ext cx="320040" cy="320040"/>
          </a:xfrm>
          <a:prstGeom prst="rect">
            <a:avLst/>
          </a:prstGeom>
        </p:spPr>
      </p:pic>
      <p:sp>
        <p:nvSpPr>
          <p:cNvPr id="9" name="Text 6"/>
          <p:cNvSpPr txBox="1"/>
          <p:nvPr/>
        </p:nvSpPr>
        <p:spPr>
          <a:xfrm>
            <a:off x="1417320" y="2587752"/>
            <a:ext cx="99669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All Objectives Met</a:t>
            </a:r>
            <a:endParaRPr lang="en-US" sz="1500" dirty="0"/>
          </a:p>
        </p:txBody>
      </p:sp>
      <p:sp>
        <p:nvSpPr>
          <p:cNvPr id="10" name="Text 7"/>
          <p:cNvSpPr txBox="1"/>
          <p:nvPr/>
        </p:nvSpPr>
        <p:spPr>
          <a:xfrm>
            <a:off x="1417320" y="2898648"/>
            <a:ext cx="9966960" cy="50292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Automated switching, sensor integration, and simulated validation were each achieved as planned.</a:t>
            </a:r>
            <a:endParaRPr lang="en-US" sz="1150" dirty="0"/>
          </a:p>
        </p:txBody>
      </p:sp>
      <p:sp>
        <p:nvSpPr>
          <p:cNvPr id="11" name="Shape 8"/>
          <p:cNvSpPr/>
          <p:nvPr/>
        </p:nvSpPr>
        <p:spPr>
          <a:xfrm>
            <a:off x="640080" y="3657600"/>
            <a:ext cx="548640" cy="548640"/>
          </a:xfrm>
          <a:prstGeom prst="ellipse">
            <a:avLst/>
          </a:prstGeom>
          <a:solidFill>
            <a:srgbClr val="F4B942"/>
          </a:solidFill>
          <a:ln/>
        </p:spPr>
      </p:sp>
      <p:pic>
        <p:nvPicPr>
          <p:cNvPr id="12" name="Image 1" descr="/home/claude/streetlight_ppt/icon_ebolt_navy.png"/>
          <p:cNvPicPr>
            <a:picLocks noChangeAspect="1"/>
          </p:cNvPicPr>
          <p:nvPr/>
        </p:nvPicPr>
        <p:blipFill>
          <a:blip r:embed="rId4"/>
          <a:stretch>
            <a:fillRect/>
          </a:stretch>
        </p:blipFill>
        <p:spPr>
          <a:xfrm>
            <a:off x="754380" y="3771900"/>
            <a:ext cx="320040" cy="320040"/>
          </a:xfrm>
          <a:prstGeom prst="rect">
            <a:avLst/>
          </a:prstGeom>
        </p:spPr>
      </p:pic>
      <p:sp>
        <p:nvSpPr>
          <p:cNvPr id="13" name="Text 9"/>
          <p:cNvSpPr txBox="1"/>
          <p:nvPr/>
        </p:nvSpPr>
        <p:spPr>
          <a:xfrm>
            <a:off x="1417320" y="3639312"/>
            <a:ext cx="99669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Demonstrated Efficiency</a:t>
            </a:r>
            <a:endParaRPr lang="en-US" sz="1500" dirty="0"/>
          </a:p>
        </p:txBody>
      </p:sp>
      <p:sp>
        <p:nvSpPr>
          <p:cNvPr id="14" name="Text 10"/>
          <p:cNvSpPr txBox="1"/>
          <p:nvPr/>
        </p:nvSpPr>
        <p:spPr>
          <a:xfrm>
            <a:off x="1417320" y="3950208"/>
            <a:ext cx="9966960" cy="50292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Simulation results show reduced unnecessary operating hours versus timer-based systems.</a:t>
            </a:r>
            <a:endParaRPr lang="en-US" sz="1150" dirty="0"/>
          </a:p>
        </p:txBody>
      </p:sp>
      <p:sp>
        <p:nvSpPr>
          <p:cNvPr id="15" name="Shape 11"/>
          <p:cNvSpPr/>
          <p:nvPr/>
        </p:nvSpPr>
        <p:spPr>
          <a:xfrm>
            <a:off x="640080" y="4709160"/>
            <a:ext cx="548640" cy="548640"/>
          </a:xfrm>
          <a:prstGeom prst="ellipse">
            <a:avLst/>
          </a:prstGeom>
          <a:solidFill>
            <a:srgbClr val="F4B942"/>
          </a:solidFill>
          <a:ln/>
        </p:spPr>
      </p:sp>
      <p:pic>
        <p:nvPicPr>
          <p:cNvPr id="16" name="Image 2" descr="/home/claude/streetlight_ppt/icon_hbulb_navy.png"/>
          <p:cNvPicPr>
            <a:picLocks noChangeAspect="1"/>
          </p:cNvPicPr>
          <p:nvPr/>
        </p:nvPicPr>
        <p:blipFill>
          <a:blip r:embed="rId5"/>
          <a:stretch>
            <a:fillRect/>
          </a:stretch>
        </p:blipFill>
        <p:spPr>
          <a:xfrm>
            <a:off x="754380" y="4823460"/>
            <a:ext cx="320040" cy="320040"/>
          </a:xfrm>
          <a:prstGeom prst="rect">
            <a:avLst/>
          </a:prstGeom>
        </p:spPr>
      </p:pic>
      <p:sp>
        <p:nvSpPr>
          <p:cNvPr id="17" name="Text 12"/>
          <p:cNvSpPr txBox="1"/>
          <p:nvPr/>
        </p:nvSpPr>
        <p:spPr>
          <a:xfrm>
            <a:off x="1417320" y="4690872"/>
            <a:ext cx="99669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Scalable Foundation</a:t>
            </a:r>
            <a:endParaRPr lang="en-US" sz="1500" dirty="0"/>
          </a:p>
        </p:txBody>
      </p:sp>
      <p:sp>
        <p:nvSpPr>
          <p:cNvPr id="18" name="Text 13"/>
          <p:cNvSpPr txBox="1"/>
          <p:nvPr/>
        </p:nvSpPr>
        <p:spPr>
          <a:xfrm>
            <a:off x="1417320" y="5001768"/>
            <a:ext cx="9966960" cy="50292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The design can be extended with motion sensing, dimming, and IoT connectivity for future smart-city deployment.</a:t>
            </a:r>
            <a:endParaRPr lang="en-US" sz="1150" dirty="0"/>
          </a:p>
        </p:txBody>
      </p:sp>
      <p:sp>
        <p:nvSpPr>
          <p:cNvPr id="19" name="Shape 14"/>
          <p:cNvSpPr/>
          <p:nvPr/>
        </p:nvSpPr>
        <p:spPr>
          <a:xfrm>
            <a:off x="640080" y="5989320"/>
            <a:ext cx="10881360" cy="640080"/>
          </a:xfrm>
          <a:prstGeom prst="roundRect">
            <a:avLst>
              <a:gd name="adj" fmla="val 14286"/>
            </a:avLst>
          </a:prstGeom>
          <a:solidFill>
            <a:srgbClr val="1B2A4A"/>
          </a:solidFill>
          <a:ln w="12700">
            <a:solidFill>
              <a:srgbClr val="F4B942"/>
            </a:solidFill>
            <a:prstDash val="solid"/>
          </a:ln>
        </p:spPr>
      </p:sp>
      <p:sp>
        <p:nvSpPr>
          <p:cNvPr id="20" name="Text 15"/>
          <p:cNvSpPr txBox="1"/>
          <p:nvPr/>
        </p:nvSpPr>
        <p:spPr>
          <a:xfrm>
            <a:off x="640080" y="5989320"/>
            <a:ext cx="10881360" cy="640080"/>
          </a:xfrm>
          <a:prstGeom prst="rect">
            <a:avLst/>
          </a:prstGeom>
          <a:noFill/>
          <a:ln/>
        </p:spPr>
        <p:txBody>
          <a:bodyPr wrap="square" lIns="0" tIns="0" rIns="0" bIns="0" rtlCol="0" anchor="ctr"/>
          <a:lstStyle/>
          <a:p>
            <a:pPr marL="0" indent="0" algn="ctr">
              <a:buNone/>
            </a:pPr>
            <a:r>
              <a:rPr lang="en-US" sz="1700" b="1" dirty="0">
                <a:solidFill>
                  <a:srgbClr val="F4B942"/>
                </a:solidFill>
                <a:latin typeface="Cambria" pitchFamily="34" charset="0"/>
                <a:ea typeface="Cambria" pitchFamily="34" charset="-122"/>
                <a:cs typeface="Cambria" pitchFamily="34" charset="-120"/>
              </a:rPr>
              <a:t>Thank You</a:t>
            </a:r>
            <a:endParaRPr lang="en-US" sz="17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19</TotalTime>
  <Words>1320</Words>
  <Application>Microsoft Office PowerPoint</Application>
  <PresentationFormat>Widescreen</PresentationFormat>
  <Paragraphs>190</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Cambria</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Saicharan Vedula</cp:lastModifiedBy>
  <cp:revision>3</cp:revision>
  <dcterms:created xsi:type="dcterms:W3CDTF">2026-09-11T09:00:33Z</dcterms:created>
  <dcterms:modified xsi:type="dcterms:W3CDTF">2026-09-11T09:46:50Z</dcterms:modified>
</cp:coreProperties>
</file>